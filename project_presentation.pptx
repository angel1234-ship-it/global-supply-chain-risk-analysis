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9" r:id="rId5"/>
    <p:sldId id="260" r:id="rId6"/>
    <p:sldId id="261" r:id="rId7"/>
    <p:sldId id="262" r:id="rId8"/>
    <p:sldId id="269" r:id="rId9"/>
    <p:sldId id="265" r:id="rId10"/>
    <p:sldId id="266" r:id="rId11"/>
    <p:sldId id="267" r:id="rId12"/>
    <p:sldId id="268"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5E228D-8812-4487-B146-5BE57496066A}">
          <p14:sldIdLst>
            <p14:sldId id="256"/>
            <p14:sldId id="257"/>
            <p14:sldId id="263"/>
            <p14:sldId id="259"/>
            <p14:sldId id="260"/>
            <p14:sldId id="261"/>
            <p14:sldId id="262"/>
            <p14:sldId id="269"/>
            <p14:sldId id="265"/>
            <p14:sldId id="266"/>
            <p14:sldId id="267"/>
            <p14:sldId id="268"/>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1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70F35-A2A1-011B-441B-8B0896C232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350D45-9AFC-3288-C704-C0044470AA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B28309-B566-60E5-5DFA-EF579394AFFD}"/>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5" name="Footer Placeholder 4">
            <a:extLst>
              <a:ext uri="{FF2B5EF4-FFF2-40B4-BE49-F238E27FC236}">
                <a16:creationId xmlns:a16="http://schemas.microsoft.com/office/drawing/2014/main" id="{2AA3D721-59C3-6512-8D8F-24358FE539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993B47-640D-DF76-A321-C97BF7EFBC9C}"/>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109875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CD44-E6E9-DDB1-6E76-68EF8D285F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EED11F-3C73-F8E1-7981-2CB8B4EC23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E8EA4B-7F85-7EA6-C0BD-C7AE2CEA71B9}"/>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5" name="Footer Placeholder 4">
            <a:extLst>
              <a:ext uri="{FF2B5EF4-FFF2-40B4-BE49-F238E27FC236}">
                <a16:creationId xmlns:a16="http://schemas.microsoft.com/office/drawing/2014/main" id="{5784D02C-38B5-5AEF-A300-D6DE58331B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2370D8-6D09-ADDF-25EE-578468249CBB}"/>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2345903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5B805-87D4-9C95-38D1-FD74F8A40B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65B802-F679-2489-25AC-B8BFD87CF9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150050-BD5E-9E3C-F5D4-B05BB1AA77E3}"/>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5" name="Footer Placeholder 4">
            <a:extLst>
              <a:ext uri="{FF2B5EF4-FFF2-40B4-BE49-F238E27FC236}">
                <a16:creationId xmlns:a16="http://schemas.microsoft.com/office/drawing/2014/main" id="{B8B1D52F-8863-74DB-3162-28D4B7405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6A528D-BB15-16A7-2457-61D461D5E432}"/>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2057733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892A6-3281-4302-E830-6CD279ED0C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354B91-A828-1F9F-133A-84424B470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0CED9A-9D1C-2F18-9F2F-BAC382F25D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2BBA0F-721D-DD06-0FE2-285FDF95BDAB}"/>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6" name="Footer Placeholder 5">
            <a:extLst>
              <a:ext uri="{FF2B5EF4-FFF2-40B4-BE49-F238E27FC236}">
                <a16:creationId xmlns:a16="http://schemas.microsoft.com/office/drawing/2014/main" id="{C4D920C4-8B16-B019-6BB4-95D5E540A5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00F701-D6DC-9BA4-2F03-D4F0649C307A}"/>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268981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83B74-0AB9-EED9-11CA-4A26D8A7B2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3A167A-4A46-B325-100F-2652CFB254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83D85D-4DD9-8B4A-BA34-01E6BF7B6D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7BB7B5-77F8-1EFB-3C6C-A77F902B06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953126-FE09-AF17-BAFC-648FABB3B4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C3A5B8-BC10-7B4F-6297-D8BB7D9E723D}"/>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8" name="Footer Placeholder 7">
            <a:extLst>
              <a:ext uri="{FF2B5EF4-FFF2-40B4-BE49-F238E27FC236}">
                <a16:creationId xmlns:a16="http://schemas.microsoft.com/office/drawing/2014/main" id="{9BC5A2BD-5820-D611-DD76-5D940A3724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2EA422-D5CB-D490-818D-9B517EB32F7F}"/>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3931367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5A812-B65E-16CE-2CF5-AC088C5685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E05F52-F075-081D-DFFE-C30B63D96257}"/>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4" name="Footer Placeholder 3">
            <a:extLst>
              <a:ext uri="{FF2B5EF4-FFF2-40B4-BE49-F238E27FC236}">
                <a16:creationId xmlns:a16="http://schemas.microsoft.com/office/drawing/2014/main" id="{FAD9C363-4056-705F-FD4A-BE0613B55D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B46E12-5575-2DC5-C411-4ABA72921F14}"/>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857642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FA6B37-F9B7-70DD-8A84-59C87C3AD3FE}"/>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3" name="Footer Placeholder 2">
            <a:extLst>
              <a:ext uri="{FF2B5EF4-FFF2-40B4-BE49-F238E27FC236}">
                <a16:creationId xmlns:a16="http://schemas.microsoft.com/office/drawing/2014/main" id="{85FE805D-6174-B224-9402-B9CC7DA187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599EBA-384B-02AC-7A46-DE8619258D32}"/>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299840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930B-527F-9775-E861-AF7B3EFBEB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2B4742-D49F-17E1-4B82-6A2BAB9AB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3698C1-F5AD-EF8F-E975-3F336DB7D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50770E-5019-A7B4-654E-576DE1CD1C2C}"/>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6" name="Footer Placeholder 5">
            <a:extLst>
              <a:ext uri="{FF2B5EF4-FFF2-40B4-BE49-F238E27FC236}">
                <a16:creationId xmlns:a16="http://schemas.microsoft.com/office/drawing/2014/main" id="{F731C6A4-DF4F-2DD6-7BA2-D753F512E8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32856-53FB-E563-9396-F89A31AA76B2}"/>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1916245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85A0-3130-6776-738A-EEA3280574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A73D28-945A-922E-89CC-F249BD7B7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9624DBA-60E2-15B9-2B1E-46DFD51F98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DEC994-1F72-8D48-678F-3BDD9EA40AF0}"/>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6" name="Footer Placeholder 5">
            <a:extLst>
              <a:ext uri="{FF2B5EF4-FFF2-40B4-BE49-F238E27FC236}">
                <a16:creationId xmlns:a16="http://schemas.microsoft.com/office/drawing/2014/main" id="{614D2490-2ED6-7971-D28D-4A35A73CB7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FF4284-8D76-3591-24B6-CF7AE405C52E}"/>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2923049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107AF-2D67-B49C-9EBC-CAB857905B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8D6080-CC6A-62E0-194A-6B69D297F4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11CEB4-ED42-A84E-01DC-19B16F3BCDD6}"/>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5" name="Footer Placeholder 4">
            <a:extLst>
              <a:ext uri="{FF2B5EF4-FFF2-40B4-BE49-F238E27FC236}">
                <a16:creationId xmlns:a16="http://schemas.microsoft.com/office/drawing/2014/main" id="{44C87048-383D-CA8E-390D-C9FD3449A8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5C21DF-DD4C-96A6-4B3E-647DFF01A987}"/>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1509159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521F5A-5D2F-3C99-16F1-8B428D71E3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BF768A-133E-8847-F264-A6A3A76C91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5082C1-4B1A-A741-F64C-85E00EB414E8}"/>
              </a:ext>
            </a:extLst>
          </p:cNvPr>
          <p:cNvSpPr>
            <a:spLocks noGrp="1"/>
          </p:cNvSpPr>
          <p:nvPr>
            <p:ph type="dt" sz="half" idx="10"/>
          </p:nvPr>
        </p:nvSpPr>
        <p:spPr/>
        <p:txBody>
          <a:bodyPr/>
          <a:lstStyle/>
          <a:p>
            <a:fld id="{F397FBCD-69ED-4AB4-909D-7794C50DC234}" type="datetimeFigureOut">
              <a:rPr lang="en-IN" smtClean="0"/>
              <a:t>2026-05-01</a:t>
            </a:fld>
            <a:endParaRPr lang="en-IN"/>
          </a:p>
        </p:txBody>
      </p:sp>
      <p:sp>
        <p:nvSpPr>
          <p:cNvPr id="5" name="Footer Placeholder 4">
            <a:extLst>
              <a:ext uri="{FF2B5EF4-FFF2-40B4-BE49-F238E27FC236}">
                <a16:creationId xmlns:a16="http://schemas.microsoft.com/office/drawing/2014/main" id="{FE8FD9AA-C369-1A0D-9249-EEEB42503D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B8E4BE-D37E-D739-E0BB-5D43B437D393}"/>
              </a:ext>
            </a:extLst>
          </p:cNvPr>
          <p:cNvSpPr>
            <a:spLocks noGrp="1"/>
          </p:cNvSpPr>
          <p:nvPr>
            <p:ph type="sldNum" sz="quarter" idx="12"/>
          </p:nvPr>
        </p:nvSpPr>
        <p:spPr/>
        <p:txBody>
          <a:bodyPr/>
          <a:lstStyle/>
          <a:p>
            <a:fld id="{9FF32FD6-AB89-4BB5-8088-AA452D70F711}" type="slidenum">
              <a:rPr lang="en-IN" smtClean="0"/>
              <a:t>‹#›</a:t>
            </a:fld>
            <a:endParaRPr lang="en-IN"/>
          </a:p>
        </p:txBody>
      </p:sp>
    </p:spTree>
    <p:extLst>
      <p:ext uri="{BB962C8B-B14F-4D97-AF65-F5344CB8AC3E}">
        <p14:creationId xmlns:p14="http://schemas.microsoft.com/office/powerpoint/2010/main" val="469034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D6F18-E61B-137A-B82A-538BD3579A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2E2984-E612-0A9F-FB15-AED12F37CF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AD722F-38F4-FA80-437B-9874131B0D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7FBCD-69ED-4AB4-909D-7794C50DC234}" type="datetimeFigureOut">
              <a:rPr lang="en-IN" smtClean="0"/>
              <a:t>2026-05-01</a:t>
            </a:fld>
            <a:endParaRPr lang="en-IN"/>
          </a:p>
        </p:txBody>
      </p:sp>
      <p:sp>
        <p:nvSpPr>
          <p:cNvPr id="5" name="Footer Placeholder 4">
            <a:extLst>
              <a:ext uri="{FF2B5EF4-FFF2-40B4-BE49-F238E27FC236}">
                <a16:creationId xmlns:a16="http://schemas.microsoft.com/office/drawing/2014/main" id="{069BF557-E9B2-0081-2A66-40C4CAB8C3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38036A-91DE-DC1C-77A1-379559074E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F32FD6-AB89-4BB5-8088-AA452D70F711}" type="slidenum">
              <a:rPr lang="en-IN" smtClean="0"/>
              <a:t>‹#›</a:t>
            </a:fld>
            <a:endParaRPr lang="en-IN"/>
          </a:p>
        </p:txBody>
      </p:sp>
    </p:spTree>
    <p:extLst>
      <p:ext uri="{BB962C8B-B14F-4D97-AF65-F5344CB8AC3E}">
        <p14:creationId xmlns:p14="http://schemas.microsoft.com/office/powerpoint/2010/main" val="3620856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F1BA08-6A72-C45A-5AAB-C7D1D8A6374A}"/>
              </a:ext>
            </a:extLst>
          </p:cNvPr>
          <p:cNvSpPr txBox="1"/>
          <p:nvPr/>
        </p:nvSpPr>
        <p:spPr>
          <a:xfrm>
            <a:off x="914401" y="2054942"/>
            <a:ext cx="10510684" cy="984885"/>
          </a:xfrm>
          <a:prstGeom prst="rect">
            <a:avLst/>
          </a:prstGeom>
          <a:noFill/>
        </p:spPr>
        <p:txBody>
          <a:bodyPr wrap="square" rtlCol="0">
            <a:sp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Global Supply Chain and Risk Analysis</a:t>
            </a:r>
          </a:p>
          <a:p>
            <a:endParaRPr lang="en-IN" dirty="0"/>
          </a:p>
        </p:txBody>
      </p:sp>
      <p:sp>
        <p:nvSpPr>
          <p:cNvPr id="8" name="TextBox 7">
            <a:extLst>
              <a:ext uri="{FF2B5EF4-FFF2-40B4-BE49-F238E27FC236}">
                <a16:creationId xmlns:a16="http://schemas.microsoft.com/office/drawing/2014/main" id="{317F0D9E-2D37-E721-E300-942E2F87CA2D}"/>
              </a:ext>
            </a:extLst>
          </p:cNvPr>
          <p:cNvSpPr txBox="1"/>
          <p:nvPr/>
        </p:nvSpPr>
        <p:spPr>
          <a:xfrm>
            <a:off x="6725264" y="4748980"/>
            <a:ext cx="4227871" cy="1877437"/>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Data Analytics Project using Power BI</a:t>
            </a:r>
          </a:p>
          <a:p>
            <a:r>
              <a:rPr lang="en-US" sz="2000" dirty="0">
                <a:solidFill>
                  <a:schemeClr val="bg1"/>
                </a:solidFill>
                <a:latin typeface="Times New Roman" panose="02020603050405020304" pitchFamily="18" charset="0"/>
                <a:cs typeface="Times New Roman" panose="02020603050405020304" pitchFamily="18" charset="0"/>
              </a:rPr>
              <a:t>	Angel Francis</a:t>
            </a:r>
            <a:br>
              <a:rPr lang="en-US" sz="2000" dirty="0">
                <a:solidFill>
                  <a:schemeClr val="bg1"/>
                </a:solidFill>
                <a:latin typeface="Times New Roman" panose="02020603050405020304" pitchFamily="18" charset="0"/>
                <a:cs typeface="Times New Roman" panose="02020603050405020304" pitchFamily="18" charset="0"/>
              </a:rPr>
            </a:br>
            <a:r>
              <a:rPr lang="en-US" sz="2000" dirty="0">
                <a:solidFill>
                  <a:schemeClr val="bg1"/>
                </a:solidFill>
                <a:latin typeface="Times New Roman" panose="02020603050405020304" pitchFamily="18" charset="0"/>
                <a:cs typeface="Times New Roman" panose="02020603050405020304" pitchFamily="18" charset="0"/>
              </a:rPr>
              <a:t>               Date </a:t>
            </a:r>
            <a:r>
              <a:rPr lang="en-US" sz="2000">
                <a:solidFill>
                  <a:schemeClr val="bg1"/>
                </a:solidFill>
                <a:latin typeface="Times New Roman" panose="02020603050405020304" pitchFamily="18" charset="0"/>
                <a:cs typeface="Times New Roman" panose="02020603050405020304" pitchFamily="18" charset="0"/>
              </a:rPr>
              <a:t>: 23</a:t>
            </a:r>
            <a:r>
              <a:rPr lang="en-US" sz="2000" dirty="0">
                <a:solidFill>
                  <a:schemeClr val="bg1"/>
                </a:solidFill>
                <a:latin typeface="Times New Roman" panose="02020603050405020304" pitchFamily="18" charset="0"/>
                <a:cs typeface="Times New Roman" panose="02020603050405020304" pitchFamily="18" charset="0"/>
              </a:rPr>
              <a:t>-</a:t>
            </a:r>
            <a:r>
              <a:rPr lang="en-US" sz="2000">
                <a:solidFill>
                  <a:schemeClr val="bg1"/>
                </a:solidFill>
                <a:latin typeface="Times New Roman" panose="02020603050405020304" pitchFamily="18" charset="0"/>
                <a:cs typeface="Times New Roman" panose="02020603050405020304" pitchFamily="18" charset="0"/>
              </a:rPr>
              <a:t>04-2026</a:t>
            </a:r>
            <a:endParaRPr lang="en-US"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a:t>
            </a:r>
            <a:br>
              <a:rPr lang="en-IN" dirty="0"/>
            </a:br>
            <a:r>
              <a:rPr lang="en-IN" dirty="0"/>
              <a:t>	</a:t>
            </a:r>
          </a:p>
        </p:txBody>
      </p:sp>
    </p:spTree>
    <p:extLst>
      <p:ext uri="{BB962C8B-B14F-4D97-AF65-F5344CB8AC3E}">
        <p14:creationId xmlns:p14="http://schemas.microsoft.com/office/powerpoint/2010/main" val="3301648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98731-BB4E-BFB6-E721-8D095BF6BF6A}"/>
              </a:ext>
            </a:extLst>
          </p:cNvPr>
          <p:cNvSpPr>
            <a:spLocks noGrp="1"/>
          </p:cNvSpPr>
          <p:nvPr>
            <p:ph type="title"/>
          </p:nvPr>
        </p:nvSpPr>
        <p:spPr>
          <a:xfrm>
            <a:off x="690716" y="807577"/>
            <a:ext cx="10515600" cy="1325563"/>
          </a:xfrm>
        </p:spPr>
        <p:txBody>
          <a:bodyPr>
            <a:norm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Project Introduction &amp; Objective</a:t>
            </a:r>
          </a:p>
        </p:txBody>
      </p:sp>
      <p:sp>
        <p:nvSpPr>
          <p:cNvPr id="3" name="Content Placeholder 2">
            <a:extLst>
              <a:ext uri="{FF2B5EF4-FFF2-40B4-BE49-F238E27FC236}">
                <a16:creationId xmlns:a16="http://schemas.microsoft.com/office/drawing/2014/main" id="{2457956D-8949-5897-ADBF-D65F7C27D623}"/>
              </a:ext>
            </a:extLst>
          </p:cNvPr>
          <p:cNvSpPr>
            <a:spLocks noGrp="1"/>
          </p:cNvSpPr>
          <p:nvPr>
            <p:ph idx="1"/>
          </p:nvPr>
        </p:nvSpPr>
        <p:spPr>
          <a:xfrm>
            <a:off x="838200" y="1953445"/>
            <a:ext cx="10515600" cy="4351338"/>
          </a:xfrm>
        </p:spPr>
        <p:txBody>
          <a:bodyPr>
            <a:norm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This project focuses on analyzing global shipment operations to understand performance trends, operational efficiency, and risk factors affecting supply chain activities.</a:t>
            </a:r>
          </a:p>
          <a:p>
            <a:pPr algn="just"/>
            <a:r>
              <a:rPr lang="en-US" sz="2400" dirty="0">
                <a:solidFill>
                  <a:schemeClr val="bg1"/>
                </a:solidFill>
                <a:latin typeface="Times New Roman" panose="02020603050405020304" pitchFamily="18" charset="0"/>
                <a:cs typeface="Times New Roman" panose="02020603050405020304" pitchFamily="18" charset="0"/>
              </a:rPr>
              <a:t>The objective of this project is to monitor shipment performance, identify disruption risks, and support data-driven decision-making through interactive dashboards and data visualization.</a:t>
            </a: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656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FAE58-D5E5-F0B9-7F5D-54445C795476}"/>
              </a:ext>
            </a:extLst>
          </p:cNvPr>
          <p:cNvSpPr>
            <a:spLocks noGrp="1"/>
          </p:cNvSpPr>
          <p:nvPr>
            <p:ph type="title"/>
          </p:nvPr>
        </p:nvSpPr>
        <p:spPr>
          <a:xfrm>
            <a:off x="838200" y="287747"/>
            <a:ext cx="10515600" cy="696759"/>
          </a:xfrm>
        </p:spPr>
        <p:txBody>
          <a:bodyPr>
            <a:norm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Dataset Source &amp; Overview</a:t>
            </a:r>
          </a:p>
        </p:txBody>
      </p:sp>
      <p:sp>
        <p:nvSpPr>
          <p:cNvPr id="15" name="Content Placeholder 14">
            <a:extLst>
              <a:ext uri="{FF2B5EF4-FFF2-40B4-BE49-F238E27FC236}">
                <a16:creationId xmlns:a16="http://schemas.microsoft.com/office/drawing/2014/main" id="{CFDA6AC6-B995-E906-E7EC-BF25807AE2E3}"/>
              </a:ext>
            </a:extLst>
          </p:cNvPr>
          <p:cNvSpPr>
            <a:spLocks noGrp="1"/>
          </p:cNvSpPr>
          <p:nvPr>
            <p:ph idx="1"/>
          </p:nvPr>
        </p:nvSpPr>
        <p:spPr>
          <a:xfrm>
            <a:off x="838200" y="1487282"/>
            <a:ext cx="10515600" cy="5370718"/>
          </a:xfrm>
        </p:spPr>
        <p:txBody>
          <a:bodyPr/>
          <a:lstStyle/>
          <a:p>
            <a:pPr marL="0" indent="0">
              <a:lnSpc>
                <a:spcPct val="150000"/>
              </a:lnSpc>
              <a:buNone/>
            </a:pPr>
            <a:r>
              <a:rPr lang="en-IN" b="1" dirty="0">
                <a:solidFill>
                  <a:schemeClr val="bg1"/>
                </a:solidFill>
                <a:latin typeface="Times New Roman" panose="02020603050405020304" pitchFamily="18" charset="0"/>
                <a:cs typeface="Times New Roman" panose="02020603050405020304" pitchFamily="18" charset="0"/>
              </a:rPr>
              <a:t>Data Source: Kaggle</a:t>
            </a:r>
            <a:br>
              <a:rPr lang="en-IN" b="1"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dataset used in this project is a simulated global supply chain dataset designed for analytical and learning purposes.</a:t>
            </a:r>
          </a:p>
          <a:p>
            <a:pPr marL="0" lvl="0" indent="0" algn="just" eaLnBrk="0" fontAlgn="base" hangingPunct="0">
              <a:lnSpc>
                <a:spcPct val="150000"/>
              </a:lnSpc>
              <a:spcBef>
                <a:spcPct val="0"/>
              </a:spcBef>
              <a:spcAft>
                <a:spcPct val="0"/>
              </a:spcAft>
              <a:buFontTx/>
              <a:buChar char="•"/>
            </a:pPr>
            <a:r>
              <a:rPr lang="en-US" altLang="en-US" sz="2400" b="1" dirty="0">
                <a:solidFill>
                  <a:schemeClr val="bg1"/>
                </a:solidFill>
                <a:latin typeface="Times New Roman" panose="02020603050405020304" pitchFamily="18" charset="0"/>
                <a:cs typeface="Times New Roman" panose="02020603050405020304" pitchFamily="18" charset="0"/>
              </a:rPr>
              <a:t>  Total Records</a:t>
            </a:r>
            <a:r>
              <a:rPr lang="en-US" altLang="en-US" sz="2400" dirty="0">
                <a:solidFill>
                  <a:schemeClr val="bg1"/>
                </a:solidFill>
                <a:latin typeface="Times New Roman" panose="02020603050405020304" pitchFamily="18" charset="0"/>
                <a:cs typeface="Times New Roman" panose="02020603050405020304" pitchFamily="18" charset="0"/>
              </a:rPr>
              <a:t>: 5,000 shipments</a:t>
            </a:r>
          </a:p>
          <a:p>
            <a:pPr marL="0" lvl="0" indent="0" algn="just" eaLnBrk="0" fontAlgn="base" hangingPunct="0">
              <a:lnSpc>
                <a:spcPct val="150000"/>
              </a:lnSpc>
              <a:spcBef>
                <a:spcPct val="0"/>
              </a:spcBef>
              <a:spcAft>
                <a:spcPct val="0"/>
              </a:spcAft>
              <a:buFontTx/>
              <a:buChar char="•"/>
            </a:pPr>
            <a:r>
              <a:rPr lang="en-US" altLang="en-US" sz="2400" b="1" dirty="0">
                <a:solidFill>
                  <a:schemeClr val="bg1"/>
                </a:solidFill>
                <a:latin typeface="Times New Roman" panose="02020603050405020304" pitchFamily="18" charset="0"/>
                <a:cs typeface="Times New Roman" panose="02020603050405020304" pitchFamily="18" charset="0"/>
              </a:rPr>
              <a:t>  Data Type</a:t>
            </a:r>
            <a:r>
              <a:rPr lang="en-US" altLang="en-US" sz="2400" dirty="0">
                <a:solidFill>
                  <a:schemeClr val="bg1"/>
                </a:solidFill>
                <a:latin typeface="Times New Roman" panose="02020603050405020304" pitchFamily="18" charset="0"/>
                <a:cs typeface="Times New Roman" panose="02020603050405020304" pitchFamily="18" charset="0"/>
              </a:rPr>
              <a:t>: Operational and logistics data</a:t>
            </a:r>
          </a:p>
          <a:p>
            <a:pPr marL="0" lvl="0" indent="0" algn="just" eaLnBrk="0" fontAlgn="base" hangingPunct="0">
              <a:lnSpc>
                <a:spcPct val="150000"/>
              </a:lnSpc>
              <a:spcBef>
                <a:spcPct val="0"/>
              </a:spcBef>
              <a:spcAft>
                <a:spcPct val="0"/>
              </a:spcAft>
              <a:buFontTx/>
              <a:buChar char="•"/>
            </a:pPr>
            <a:r>
              <a:rPr lang="en-US" altLang="en-US" sz="2400" b="1" dirty="0">
                <a:solidFill>
                  <a:schemeClr val="bg1"/>
                </a:solidFill>
                <a:latin typeface="Times New Roman" panose="02020603050405020304" pitchFamily="18" charset="0"/>
                <a:cs typeface="Times New Roman" panose="02020603050405020304" pitchFamily="18" charset="0"/>
              </a:rPr>
              <a:t>  Scope</a:t>
            </a:r>
            <a:r>
              <a:rPr lang="en-US" altLang="en-US" sz="2400" dirty="0">
                <a:solidFill>
                  <a:schemeClr val="bg1"/>
                </a:solidFill>
                <a:latin typeface="Times New Roman" panose="02020603050405020304" pitchFamily="18" charset="0"/>
                <a:cs typeface="Times New Roman" panose="02020603050405020304" pitchFamily="18" charset="0"/>
              </a:rPr>
              <a:t>: Global transportation and shipment activities</a:t>
            </a:r>
          </a:p>
          <a:p>
            <a:pPr marL="0" lvl="0" indent="0" algn="just" eaLnBrk="0" fontAlgn="base" hangingPunct="0">
              <a:lnSpc>
                <a:spcPct val="150000"/>
              </a:lnSpc>
              <a:spcBef>
                <a:spcPct val="0"/>
              </a:spcBef>
              <a:spcAft>
                <a:spcPct val="0"/>
              </a:spcAft>
              <a:buFontTx/>
              <a:buChar char="•"/>
            </a:pPr>
            <a:r>
              <a:rPr lang="en-US" altLang="en-US" sz="2400" b="1" dirty="0">
                <a:solidFill>
                  <a:schemeClr val="bg1"/>
                </a:solidFill>
                <a:latin typeface="Times New Roman" panose="02020603050405020304" pitchFamily="18" charset="0"/>
                <a:cs typeface="Times New Roman" panose="02020603050405020304" pitchFamily="18" charset="0"/>
              </a:rPr>
              <a:t>  Data Structure</a:t>
            </a:r>
            <a:r>
              <a:rPr lang="en-US" altLang="en-US" sz="2400" dirty="0">
                <a:solidFill>
                  <a:schemeClr val="bg1"/>
                </a:solidFill>
                <a:latin typeface="Times New Roman" panose="02020603050405020304" pitchFamily="18" charset="0"/>
                <a:cs typeface="Times New Roman" panose="02020603050405020304" pitchFamily="18" charset="0"/>
              </a:rPr>
              <a:t>: Transactional shipment records</a:t>
            </a:r>
          </a:p>
          <a:p>
            <a:pPr marL="0" lvl="0" indent="0" algn="just" eaLnBrk="0" fontAlgn="base" hangingPunct="0">
              <a:lnSpc>
                <a:spcPct val="150000"/>
              </a:lnSpc>
              <a:spcBef>
                <a:spcPct val="0"/>
              </a:spcBef>
              <a:spcAft>
                <a:spcPct val="0"/>
              </a:spcAft>
              <a:buNone/>
            </a:pPr>
            <a:r>
              <a:rPr lang="en-US" sz="2400" dirty="0">
                <a:solidFill>
                  <a:schemeClr val="bg1"/>
                </a:solidFill>
                <a:latin typeface="Times New Roman" panose="02020603050405020304" pitchFamily="18" charset="0"/>
                <a:cs typeface="Times New Roman" panose="02020603050405020304" pitchFamily="18" charset="0"/>
              </a:rPr>
              <a:t>The dataset contains information related to shipment locations, product categories, transportation conditions, and disruption indicators.</a:t>
            </a:r>
            <a:r>
              <a:rPr lang="en-US" altLang="en-US" sz="2400" dirty="0">
                <a:solidFill>
                  <a:schemeClr val="bg1"/>
                </a:solidFill>
                <a:latin typeface="Times New Roman" panose="02020603050405020304" pitchFamily="18" charset="0"/>
                <a:cs typeface="Times New Roman" panose="02020603050405020304" pitchFamily="18" charset="0"/>
              </a:rPr>
              <a:t> </a:t>
            </a:r>
          </a:p>
          <a:p>
            <a:pPr marL="0" indent="0" algn="ctr">
              <a:buNone/>
            </a:pPr>
            <a:endParaRPr lang="en-IN" b="1" dirty="0">
              <a:solidFill>
                <a:schemeClr val="bg1"/>
              </a:solidFill>
              <a:latin typeface="Times New Roman" panose="02020603050405020304" pitchFamily="18" charset="0"/>
              <a:cs typeface="Times New Roman" panose="02020603050405020304" pitchFamily="18" charset="0"/>
            </a:endParaRPr>
          </a:p>
          <a:p>
            <a:pPr marL="0" indent="0" algn="ctr">
              <a:buNone/>
            </a:pP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9526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91561-C67F-911B-E1B1-9A0EDF763F7D}"/>
              </a:ext>
            </a:extLst>
          </p:cNvPr>
          <p:cNvSpPr>
            <a:spLocks noGrp="1"/>
          </p:cNvSpPr>
          <p:nvPr>
            <p:ph type="title"/>
          </p:nvPr>
        </p:nvSpPr>
        <p:spPr>
          <a:xfrm>
            <a:off x="838200" y="168481"/>
            <a:ext cx="10515600" cy="824577"/>
          </a:xfrm>
        </p:spPr>
        <p:txBody>
          <a:bodyPr>
            <a:norm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Important Columns &amp; Data Types</a:t>
            </a:r>
          </a:p>
        </p:txBody>
      </p:sp>
      <p:sp>
        <p:nvSpPr>
          <p:cNvPr id="3" name="Content Placeholder 2">
            <a:extLst>
              <a:ext uri="{FF2B5EF4-FFF2-40B4-BE49-F238E27FC236}">
                <a16:creationId xmlns:a16="http://schemas.microsoft.com/office/drawing/2014/main" id="{B79C2D75-4143-25EE-0678-1FE80D8D88A7}"/>
              </a:ext>
            </a:extLst>
          </p:cNvPr>
          <p:cNvSpPr>
            <a:spLocks noGrp="1"/>
          </p:cNvSpPr>
          <p:nvPr>
            <p:ph idx="1"/>
          </p:nvPr>
        </p:nvSpPr>
        <p:spPr>
          <a:xfrm>
            <a:off x="838200" y="1101213"/>
            <a:ext cx="10515600" cy="5588306"/>
          </a:xfrm>
        </p:spPr>
        <p:txBody>
          <a:bodyPr>
            <a:normAutofit fontScale="85000" lnSpcReduction="20000"/>
          </a:bodyPr>
          <a:lstStyle/>
          <a:p>
            <a:r>
              <a:rPr lang="en-US" b="1" dirty="0">
                <a:solidFill>
                  <a:schemeClr val="bg1"/>
                </a:solidFill>
                <a:latin typeface="Times New Roman" panose="02020603050405020304" pitchFamily="18" charset="0"/>
                <a:cs typeface="Times New Roman" panose="02020603050405020304" pitchFamily="18" charset="0"/>
              </a:rPr>
              <a:t>Shipment_ID -</a:t>
            </a:r>
            <a:r>
              <a:rPr lang="en-US" dirty="0">
                <a:solidFill>
                  <a:schemeClr val="bg1"/>
                </a:solidFill>
                <a:latin typeface="Times New Roman" panose="02020603050405020304" pitchFamily="18" charset="0"/>
                <a:cs typeface="Times New Roman" panose="02020603050405020304" pitchFamily="18" charset="0"/>
              </a:rPr>
              <a:t>Text</a:t>
            </a:r>
          </a:p>
          <a:p>
            <a:r>
              <a:rPr lang="en-US" b="1" dirty="0" err="1">
                <a:solidFill>
                  <a:schemeClr val="bg1"/>
                </a:solidFill>
                <a:latin typeface="Times New Roman" panose="02020603050405020304" pitchFamily="18" charset="0"/>
                <a:cs typeface="Times New Roman" panose="02020603050405020304" pitchFamily="18" charset="0"/>
              </a:rPr>
              <a:t>Product_Category</a:t>
            </a:r>
            <a:r>
              <a:rPr lang="en-US" b="1" dirty="0">
                <a:solidFill>
                  <a:schemeClr val="bg1"/>
                </a:solidFill>
                <a:latin typeface="Times New Roman" panose="02020603050405020304" pitchFamily="18" charset="0"/>
                <a:cs typeface="Times New Roman" panose="02020603050405020304" pitchFamily="18" charset="0"/>
              </a:rPr>
              <a:t> - </a:t>
            </a:r>
            <a:r>
              <a:rPr lang="en-US" dirty="0">
                <a:solidFill>
                  <a:schemeClr val="bg1"/>
                </a:solidFill>
                <a:latin typeface="Times New Roman" panose="02020603050405020304" pitchFamily="18" charset="0"/>
                <a:cs typeface="Times New Roman" panose="02020603050405020304" pitchFamily="18" charset="0"/>
              </a:rPr>
              <a:t>Text</a:t>
            </a:r>
          </a:p>
          <a:p>
            <a:r>
              <a:rPr lang="en-US" b="1" dirty="0" err="1">
                <a:solidFill>
                  <a:schemeClr val="bg1"/>
                </a:solidFill>
                <a:latin typeface="Times New Roman" panose="02020603050405020304" pitchFamily="18" charset="0"/>
                <a:cs typeface="Times New Roman" panose="02020603050405020304" pitchFamily="18" charset="0"/>
              </a:rPr>
              <a:t>Origin_Port</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Text</a:t>
            </a:r>
          </a:p>
          <a:p>
            <a:r>
              <a:rPr lang="en-US" b="1" dirty="0" err="1">
                <a:solidFill>
                  <a:schemeClr val="bg1"/>
                </a:solidFill>
                <a:latin typeface="Times New Roman" panose="02020603050405020304" pitchFamily="18" charset="0"/>
                <a:cs typeface="Times New Roman" panose="02020603050405020304" pitchFamily="18" charset="0"/>
              </a:rPr>
              <a:t>Destination_Port</a:t>
            </a:r>
            <a:r>
              <a:rPr lang="en-US" b="1" dirty="0">
                <a:solidFill>
                  <a:schemeClr val="bg1"/>
                </a:solidFill>
                <a:latin typeface="Times New Roman" panose="02020603050405020304" pitchFamily="18" charset="0"/>
                <a:cs typeface="Times New Roman" panose="02020603050405020304" pitchFamily="18" charset="0"/>
              </a:rPr>
              <a:t> - </a:t>
            </a:r>
            <a:r>
              <a:rPr lang="en-US" dirty="0">
                <a:solidFill>
                  <a:schemeClr val="bg1"/>
                </a:solidFill>
                <a:latin typeface="Times New Roman" panose="02020603050405020304" pitchFamily="18" charset="0"/>
                <a:cs typeface="Times New Roman" panose="02020603050405020304" pitchFamily="18" charset="0"/>
              </a:rPr>
              <a:t>Text</a:t>
            </a:r>
          </a:p>
          <a:p>
            <a:r>
              <a:rPr lang="en-US" b="1" dirty="0" err="1">
                <a:solidFill>
                  <a:schemeClr val="bg1"/>
                </a:solidFill>
                <a:latin typeface="Times New Roman" panose="02020603050405020304" pitchFamily="18" charset="0"/>
                <a:cs typeface="Times New Roman" panose="02020603050405020304" pitchFamily="18" charset="0"/>
              </a:rPr>
              <a:t>Transport_Mode</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Text</a:t>
            </a:r>
          </a:p>
          <a:p>
            <a:r>
              <a:rPr lang="en-US" b="1" dirty="0" err="1">
                <a:solidFill>
                  <a:schemeClr val="bg1"/>
                </a:solidFill>
                <a:latin typeface="Times New Roman" panose="02020603050405020304" pitchFamily="18" charset="0"/>
                <a:cs typeface="Times New Roman" panose="02020603050405020304" pitchFamily="18" charset="0"/>
              </a:rPr>
              <a:t>Lead_Time_Days</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 Decimal Number</a:t>
            </a:r>
          </a:p>
          <a:p>
            <a:r>
              <a:rPr lang="en-US" b="1" dirty="0" err="1">
                <a:solidFill>
                  <a:schemeClr val="bg1"/>
                </a:solidFill>
                <a:latin typeface="Times New Roman" panose="02020603050405020304" pitchFamily="18" charset="0"/>
                <a:cs typeface="Times New Roman" panose="02020603050405020304" pitchFamily="18" charset="0"/>
              </a:rPr>
              <a:t>Weight_MT</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 Decimal Number</a:t>
            </a:r>
          </a:p>
          <a:p>
            <a:r>
              <a:rPr lang="en-US" b="1" dirty="0" err="1">
                <a:solidFill>
                  <a:schemeClr val="bg1"/>
                </a:solidFill>
                <a:latin typeface="Times New Roman" panose="02020603050405020304" pitchFamily="18" charset="0"/>
                <a:cs typeface="Times New Roman" panose="02020603050405020304" pitchFamily="18" charset="0"/>
              </a:rPr>
              <a:t>Distance_km</a:t>
            </a:r>
            <a:r>
              <a:rPr lang="en-US" dirty="0">
                <a:solidFill>
                  <a:schemeClr val="bg1"/>
                </a:solidFill>
                <a:latin typeface="Times New Roman" panose="02020603050405020304" pitchFamily="18" charset="0"/>
                <a:cs typeface="Times New Roman" panose="02020603050405020304" pitchFamily="18" charset="0"/>
              </a:rPr>
              <a:t> - Decimal Number</a:t>
            </a:r>
          </a:p>
          <a:p>
            <a:r>
              <a:rPr lang="en-US" b="1" dirty="0" err="1">
                <a:solidFill>
                  <a:schemeClr val="bg1"/>
                </a:solidFill>
                <a:latin typeface="Times New Roman" panose="02020603050405020304" pitchFamily="18" charset="0"/>
                <a:cs typeface="Times New Roman" panose="02020603050405020304" pitchFamily="18" charset="0"/>
              </a:rPr>
              <a:t>Weather_Condition</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 Text</a:t>
            </a:r>
          </a:p>
          <a:p>
            <a:r>
              <a:rPr lang="en-US" b="1" dirty="0" err="1">
                <a:solidFill>
                  <a:schemeClr val="bg1"/>
                </a:solidFill>
                <a:latin typeface="Times New Roman" panose="02020603050405020304" pitchFamily="18" charset="0"/>
                <a:cs typeface="Times New Roman" panose="02020603050405020304" pitchFamily="18" charset="0"/>
              </a:rPr>
              <a:t>Fuel_Price_Index</a:t>
            </a:r>
            <a:r>
              <a:rPr lang="en-US" b="1" dirty="0">
                <a:solidFill>
                  <a:schemeClr val="bg1"/>
                </a:solidFill>
                <a:latin typeface="Times New Roman" panose="02020603050405020304" pitchFamily="18" charset="0"/>
                <a:cs typeface="Times New Roman" panose="02020603050405020304" pitchFamily="18" charset="0"/>
              </a:rPr>
              <a:t> - </a:t>
            </a:r>
            <a:r>
              <a:rPr lang="en-US" dirty="0">
                <a:solidFill>
                  <a:schemeClr val="bg1"/>
                </a:solidFill>
                <a:latin typeface="Times New Roman" panose="02020603050405020304" pitchFamily="18" charset="0"/>
                <a:cs typeface="Times New Roman" panose="02020603050405020304" pitchFamily="18" charset="0"/>
              </a:rPr>
              <a:t>Decimal Number</a:t>
            </a:r>
          </a:p>
          <a:p>
            <a:r>
              <a:rPr lang="en-US" b="1" dirty="0" err="1">
                <a:solidFill>
                  <a:schemeClr val="bg1"/>
                </a:solidFill>
                <a:latin typeface="Times New Roman" panose="02020603050405020304" pitchFamily="18" charset="0"/>
                <a:cs typeface="Times New Roman" panose="02020603050405020304" pitchFamily="18" charset="0"/>
              </a:rPr>
              <a:t>Geopolitical_Risk_Score</a:t>
            </a:r>
            <a:r>
              <a:rPr lang="en-US" b="1" dirty="0">
                <a:solidFill>
                  <a:schemeClr val="bg1"/>
                </a:solidFill>
                <a:latin typeface="Times New Roman" panose="02020603050405020304" pitchFamily="18" charset="0"/>
                <a:cs typeface="Times New Roman" panose="02020603050405020304" pitchFamily="18" charset="0"/>
              </a:rPr>
              <a:t> - </a:t>
            </a:r>
            <a:r>
              <a:rPr lang="en-US" dirty="0">
                <a:solidFill>
                  <a:schemeClr val="bg1"/>
                </a:solidFill>
                <a:latin typeface="Times New Roman" panose="02020603050405020304" pitchFamily="18" charset="0"/>
                <a:cs typeface="Times New Roman" panose="02020603050405020304" pitchFamily="18" charset="0"/>
              </a:rPr>
              <a:t>Decimal Number</a:t>
            </a:r>
          </a:p>
          <a:p>
            <a:r>
              <a:rPr lang="en-US" b="1" dirty="0" err="1">
                <a:solidFill>
                  <a:schemeClr val="bg1"/>
                </a:solidFill>
                <a:latin typeface="Times New Roman" panose="02020603050405020304" pitchFamily="18" charset="0"/>
                <a:cs typeface="Times New Roman" panose="02020603050405020304" pitchFamily="18" charset="0"/>
              </a:rPr>
              <a:t>Disruption_Occurred</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 Whole Number (0 = No, 1 = Yes)</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dirty="0">
                <a:solidFill>
                  <a:schemeClr val="bg1"/>
                </a:solidFill>
                <a:latin typeface="Times New Roman" panose="02020603050405020304" pitchFamily="18" charset="0"/>
                <a:cs typeface="Times New Roman" panose="02020603050405020304" pitchFamily="18" charset="0"/>
              </a:rPr>
              <a:t>These columns were selected because they directly support operational and risk analysis.</a:t>
            </a:r>
          </a:p>
          <a:p>
            <a:endParaRPr lang="en-IN" dirty="0"/>
          </a:p>
        </p:txBody>
      </p:sp>
    </p:spTree>
    <p:extLst>
      <p:ext uri="{BB962C8B-B14F-4D97-AF65-F5344CB8AC3E}">
        <p14:creationId xmlns:p14="http://schemas.microsoft.com/office/powerpoint/2010/main" val="2375648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89397-4509-255E-C3ED-D5EE75B87967}"/>
              </a:ext>
            </a:extLst>
          </p:cNvPr>
          <p:cNvSpPr>
            <a:spLocks noGrp="1"/>
          </p:cNvSpPr>
          <p:nvPr>
            <p:ph type="title"/>
          </p:nvPr>
        </p:nvSpPr>
        <p:spPr>
          <a:xfrm>
            <a:off x="435078" y="804863"/>
            <a:ext cx="10515600" cy="1112428"/>
          </a:xfrm>
        </p:spPr>
        <p:txBody>
          <a:bodyPr>
            <a:normAutofit fontScale="90000"/>
          </a:bodyPr>
          <a:lstStyle/>
          <a:p>
            <a:pPr algn="ctr"/>
            <a:r>
              <a:rPr lang="en-IN" sz="3200" dirty="0">
                <a:solidFill>
                  <a:schemeClr val="bg1"/>
                </a:solidFill>
                <a:latin typeface="Times New Roman" panose="02020603050405020304" pitchFamily="18" charset="0"/>
                <a:cs typeface="Times New Roman" panose="02020603050405020304" pitchFamily="18" charset="0"/>
              </a:rPr>
              <a:t>Data Cleaning &amp; Transformation</a:t>
            </a:r>
            <a:br>
              <a:rPr lang="en-IN" dirty="0"/>
            </a:br>
            <a:endParaRPr lang="en-IN" dirty="0"/>
          </a:p>
        </p:txBody>
      </p:sp>
      <p:sp>
        <p:nvSpPr>
          <p:cNvPr id="6" name="Rectangle 3">
            <a:extLst>
              <a:ext uri="{FF2B5EF4-FFF2-40B4-BE49-F238E27FC236}">
                <a16:creationId xmlns:a16="http://schemas.microsoft.com/office/drawing/2014/main" id="{C7C13567-8A5C-E701-6BED-1628B1B25A29}"/>
              </a:ext>
            </a:extLst>
          </p:cNvPr>
          <p:cNvSpPr>
            <a:spLocks noGrp="1" noChangeArrowheads="1"/>
          </p:cNvSpPr>
          <p:nvPr>
            <p:ph idx="1"/>
          </p:nvPr>
        </p:nvSpPr>
        <p:spPr bwMode="auto">
          <a:xfrm>
            <a:off x="1496961" y="1397142"/>
            <a:ext cx="6226384"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Verified the dataset for duplicate records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Checked for missing or null values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Ensured correct data types for each column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Validated data consistency across fields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Prepared the dataset for analysis and reporting </a:t>
            </a:r>
          </a:p>
        </p:txBody>
      </p:sp>
    </p:spTree>
    <p:extLst>
      <p:ext uri="{BB962C8B-B14F-4D97-AF65-F5344CB8AC3E}">
        <p14:creationId xmlns:p14="http://schemas.microsoft.com/office/powerpoint/2010/main" val="2197481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7FCD-E329-6FDD-9855-50CBD60E748A}"/>
              </a:ext>
            </a:extLst>
          </p:cNvPr>
          <p:cNvSpPr>
            <a:spLocks noGrp="1"/>
          </p:cNvSpPr>
          <p:nvPr>
            <p:ph type="ctrTitle"/>
          </p:nvPr>
        </p:nvSpPr>
        <p:spPr>
          <a:xfrm>
            <a:off x="747250" y="673291"/>
            <a:ext cx="9144000" cy="1010265"/>
          </a:xfrm>
        </p:spPr>
        <p:txBody>
          <a:bodyPr>
            <a:normAutofit/>
          </a:bodyPr>
          <a:lstStyle/>
          <a:p>
            <a:r>
              <a:rPr lang="en-IN" sz="3200" b="1" dirty="0">
                <a:solidFill>
                  <a:schemeClr val="bg1"/>
                </a:solidFill>
                <a:latin typeface="Times New Roman" panose="02020603050405020304" pitchFamily="18" charset="0"/>
                <a:cs typeface="Times New Roman" panose="02020603050405020304" pitchFamily="18" charset="0"/>
              </a:rPr>
              <a:t>Data Modeling</a:t>
            </a:r>
          </a:p>
        </p:txBody>
      </p:sp>
      <p:sp>
        <p:nvSpPr>
          <p:cNvPr id="4" name="Rectangle 1">
            <a:extLst>
              <a:ext uri="{FF2B5EF4-FFF2-40B4-BE49-F238E27FC236}">
                <a16:creationId xmlns:a16="http://schemas.microsoft.com/office/drawing/2014/main" id="{A86D9461-CB8F-7FBA-B3D1-181B61ABA9B1}"/>
              </a:ext>
            </a:extLst>
          </p:cNvPr>
          <p:cNvSpPr>
            <a:spLocks noGrp="1" noChangeArrowheads="1"/>
          </p:cNvSpPr>
          <p:nvPr>
            <p:ph type="subTitle" idx="1"/>
          </p:nvPr>
        </p:nvSpPr>
        <p:spPr bwMode="auto">
          <a:xfrm>
            <a:off x="368684" y="1824488"/>
            <a:ext cx="11454632"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Created a Fact table to store shipment transaction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Developed Dimension tables for Product, </a:t>
            </a:r>
            <a:r>
              <a:rPr kumimoji="0" lang="en-US" altLang="en-US" b="0"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Port,Transport,Weather</a:t>
            </a: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and Date information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Established relationships between tables using key fields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Implemented a star schema data model </a:t>
            </a:r>
          </a:p>
          <a:p>
            <a:pPr lvl="0" algn="just" eaLnBrk="0" fontAlgn="base" hangingPunct="0">
              <a:lnSpc>
                <a:spcPct val="150000"/>
              </a:lnSpc>
              <a:spcBef>
                <a:spcPct val="0"/>
              </a:spcBef>
              <a:spcAft>
                <a:spcPct val="0"/>
              </a:spcAft>
            </a:pPr>
            <a:r>
              <a:rPr lang="en-US" dirty="0">
                <a:solidFill>
                  <a:schemeClr val="bg1"/>
                </a:solidFill>
                <a:latin typeface="Times New Roman" panose="02020603050405020304" pitchFamily="18" charset="0"/>
                <a:cs typeface="Times New Roman" panose="02020603050405020304" pitchFamily="18" charset="0"/>
              </a:rPr>
              <a:t>This data model improves performance, supports accurate filtering, and enables efficient analysis.</a:t>
            </a:r>
            <a:endPar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240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58F190-36EB-38E5-3D02-B33E99B0CF00}"/>
              </a:ext>
            </a:extLst>
          </p:cNvPr>
          <p:cNvSpPr>
            <a:spLocks noGrp="1"/>
          </p:cNvSpPr>
          <p:nvPr>
            <p:ph type="title"/>
          </p:nvPr>
        </p:nvSpPr>
        <p:spPr>
          <a:xfrm>
            <a:off x="914400" y="179592"/>
            <a:ext cx="10515600" cy="883572"/>
          </a:xfrm>
        </p:spPr>
        <p:txBody>
          <a:bodyPr>
            <a:norm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DAX Measures &amp; Calculations</a:t>
            </a:r>
          </a:p>
        </p:txBody>
      </p:sp>
      <p:sp>
        <p:nvSpPr>
          <p:cNvPr id="8" name="Content Placeholder 7">
            <a:extLst>
              <a:ext uri="{FF2B5EF4-FFF2-40B4-BE49-F238E27FC236}">
                <a16:creationId xmlns:a16="http://schemas.microsoft.com/office/drawing/2014/main" id="{A8B2E4CF-0C22-30DC-A92F-022B15271075}"/>
              </a:ext>
            </a:extLst>
          </p:cNvPr>
          <p:cNvSpPr>
            <a:spLocks noGrp="1"/>
          </p:cNvSpPr>
          <p:nvPr>
            <p:ph sz="half" idx="2"/>
          </p:nvPr>
        </p:nvSpPr>
        <p:spPr>
          <a:xfrm>
            <a:off x="6248400" y="1494503"/>
            <a:ext cx="5181600" cy="5584721"/>
          </a:xfrm>
        </p:spPr>
        <p:txBody>
          <a:bodyPr/>
          <a:lstStyle/>
          <a:p>
            <a:pPr marL="0" indent="0">
              <a:buNone/>
            </a:pPr>
            <a:r>
              <a:rPr lang="en-IN" b="1" dirty="0">
                <a:solidFill>
                  <a:schemeClr val="bg1"/>
                </a:solidFill>
                <a:latin typeface="Times New Roman" panose="02020603050405020304" pitchFamily="18" charset="0"/>
                <a:cs typeface="Times New Roman" panose="02020603050405020304" pitchFamily="18" charset="0"/>
              </a:rPr>
              <a:t>Performance Metrics</a:t>
            </a: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Average Reliability Score</a:t>
            </a: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Most Reliable Product Category</a:t>
            </a: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Most Reliable Port </a:t>
            </a:r>
          </a:p>
          <a:p>
            <a:pPr marL="0" indent="0">
              <a:buNone/>
            </a:pPr>
            <a:endParaRPr lang="en-IN" sz="2400" b="1" dirty="0">
              <a:solidFill>
                <a:schemeClr val="bg1"/>
              </a:solidFill>
              <a:latin typeface="Times New Roman" panose="02020603050405020304" pitchFamily="18" charset="0"/>
              <a:cs typeface="Times New Roman" panose="02020603050405020304" pitchFamily="18" charset="0"/>
            </a:endParaRPr>
          </a:p>
          <a:p>
            <a:pPr marL="0" indent="0">
              <a:buNone/>
            </a:pPr>
            <a:endParaRPr lang="en-IN" sz="2400" b="1" dirty="0">
              <a:solidFill>
                <a:schemeClr val="bg1"/>
              </a:solidFill>
              <a:latin typeface="Times New Roman" panose="02020603050405020304" pitchFamily="18" charset="0"/>
              <a:cs typeface="Times New Roman" panose="02020603050405020304" pitchFamily="18" charset="0"/>
            </a:endParaRPr>
          </a:p>
          <a:p>
            <a:pPr marL="0" indent="0">
              <a:buNone/>
            </a:pP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803B04-41DB-4C10-9CEE-F24F975C403D}"/>
              </a:ext>
            </a:extLst>
          </p:cNvPr>
          <p:cNvSpPr>
            <a:spLocks noGrp="1"/>
          </p:cNvSpPr>
          <p:nvPr>
            <p:ph sz="half" idx="1"/>
          </p:nvPr>
        </p:nvSpPr>
        <p:spPr>
          <a:xfrm>
            <a:off x="444910" y="1425677"/>
            <a:ext cx="5181600" cy="5252731"/>
          </a:xfrm>
        </p:spPr>
        <p:txBody>
          <a:bodyPr/>
          <a:lstStyle/>
          <a:p>
            <a:pPr marL="0" indent="0">
              <a:buNone/>
            </a:pPr>
            <a:r>
              <a:rPr lang="en-IN" b="1" dirty="0">
                <a:solidFill>
                  <a:schemeClr val="bg1"/>
                </a:solidFill>
                <a:latin typeface="Times New Roman" panose="02020603050405020304" pitchFamily="18" charset="0"/>
                <a:cs typeface="Times New Roman" panose="02020603050405020304" pitchFamily="18" charset="0"/>
              </a:rPr>
              <a:t>Operational Metrics</a:t>
            </a:r>
            <a:endParaRPr lang="en-IN" dirty="0">
              <a:solidFill>
                <a:schemeClr val="bg1"/>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Total Shipments</a:t>
            </a: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Total Distance</a:t>
            </a: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Total Weight</a:t>
            </a: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Average Lead Time</a:t>
            </a: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Total Product Categories</a:t>
            </a:r>
          </a:p>
          <a:p>
            <a:pPr marL="0" lvl="0" indent="0" eaLnBrk="0" fontAlgn="base" hangingPunct="0">
              <a:lnSpc>
                <a:spcPct val="15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Total Ports </a:t>
            </a:r>
          </a:p>
          <a:p>
            <a:pPr marL="0" indent="0" algn="ctr">
              <a:buNone/>
            </a:pPr>
            <a:endParaRPr lang="en-IN" dirty="0">
              <a:solidFill>
                <a:schemeClr val="bg1"/>
              </a:solidFill>
              <a:latin typeface="Times New Roman" panose="02020603050405020304" pitchFamily="18" charset="0"/>
              <a:cs typeface="Times New Roman" panose="02020603050405020304" pitchFamily="18" charset="0"/>
            </a:endParaRPr>
          </a:p>
          <a:p>
            <a:pPr marL="0" indent="0" algn="ctr">
              <a:buNone/>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6624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92DD849-DB9A-44BA-2E87-2535AAEB9561}"/>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63B162A-E08C-9F28-6E9F-5506C9C6A8AC}"/>
              </a:ext>
            </a:extLst>
          </p:cNvPr>
          <p:cNvSpPr>
            <a:spLocks noGrp="1"/>
          </p:cNvSpPr>
          <p:nvPr>
            <p:ph sz="half" idx="2"/>
          </p:nvPr>
        </p:nvSpPr>
        <p:spPr>
          <a:xfrm>
            <a:off x="5982929" y="599767"/>
            <a:ext cx="5181600" cy="5584721"/>
          </a:xfrm>
        </p:spPr>
        <p:txBody>
          <a:bodyPr>
            <a:normAutofit fontScale="92500" lnSpcReduction="10000"/>
          </a:bodyPr>
          <a:lstStyle/>
          <a:p>
            <a:pPr marL="0" indent="0">
              <a:buNone/>
            </a:pPr>
            <a:r>
              <a:rPr lang="en-IN" sz="3000" b="1" dirty="0">
                <a:solidFill>
                  <a:schemeClr val="bg1"/>
                </a:solidFill>
                <a:latin typeface="Times New Roman" panose="02020603050405020304" pitchFamily="18" charset="0"/>
                <a:cs typeface="Times New Roman" panose="02020603050405020304" pitchFamily="18" charset="0"/>
              </a:rPr>
              <a:t>Logistics &amp; Flow Metrics</a:t>
            </a:r>
          </a:p>
          <a:p>
            <a:pPr marL="0" lvl="0" indent="0" eaLnBrk="0" fontAlgn="base" hangingPunct="0">
              <a:lnSpc>
                <a:spcPct val="16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Most Shipped Product Category</a:t>
            </a:r>
          </a:p>
          <a:p>
            <a:pPr marL="0" lvl="0" indent="0" eaLnBrk="0" fontAlgn="base" hangingPunct="0">
              <a:lnSpc>
                <a:spcPct val="16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Top Exporting Port</a:t>
            </a:r>
          </a:p>
          <a:p>
            <a:pPr marL="0" lvl="0" indent="0" eaLnBrk="0" fontAlgn="base" hangingPunct="0">
              <a:lnSpc>
                <a:spcPct val="16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Top Importing Port </a:t>
            </a:r>
          </a:p>
          <a:p>
            <a:pPr marL="0" indent="0">
              <a:buNone/>
            </a:pPr>
            <a:endParaRPr lang="en-IN" sz="2400" b="1" dirty="0">
              <a:solidFill>
                <a:schemeClr val="bg1"/>
              </a:solidFill>
              <a:latin typeface="Times New Roman" panose="02020603050405020304" pitchFamily="18" charset="0"/>
              <a:cs typeface="Times New Roman" panose="02020603050405020304" pitchFamily="18" charset="0"/>
            </a:endParaRPr>
          </a:p>
          <a:p>
            <a:pPr marL="0" indent="0">
              <a:buNone/>
            </a:pPr>
            <a:endParaRPr lang="en-IN" sz="2400" b="1" dirty="0">
              <a:solidFill>
                <a:schemeClr val="bg1"/>
              </a:solidFill>
              <a:latin typeface="Times New Roman" panose="02020603050405020304" pitchFamily="18" charset="0"/>
              <a:cs typeface="Times New Roman" panose="02020603050405020304" pitchFamily="18" charset="0"/>
            </a:endParaRPr>
          </a:p>
          <a:p>
            <a:pPr marL="0" indent="0">
              <a:buNone/>
            </a:pPr>
            <a:endParaRPr lang="en-IN"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9B046F0-6E48-8813-651B-6E543D0D94CD}"/>
              </a:ext>
            </a:extLst>
          </p:cNvPr>
          <p:cNvSpPr>
            <a:spLocks noGrp="1"/>
          </p:cNvSpPr>
          <p:nvPr>
            <p:ph sz="half" idx="1"/>
          </p:nvPr>
        </p:nvSpPr>
        <p:spPr>
          <a:xfrm>
            <a:off x="356420" y="599767"/>
            <a:ext cx="5181600" cy="5252731"/>
          </a:xfrm>
        </p:spPr>
        <p:txBody>
          <a:bodyPr>
            <a:normAutofit fontScale="92500" lnSpcReduction="10000"/>
          </a:bodyPr>
          <a:lstStyle/>
          <a:p>
            <a:pPr marL="0" indent="0">
              <a:buNone/>
            </a:pPr>
            <a:r>
              <a:rPr lang="en-IN" sz="3000" b="1" dirty="0">
                <a:solidFill>
                  <a:schemeClr val="bg1"/>
                </a:solidFill>
                <a:latin typeface="Times New Roman" panose="02020603050405020304" pitchFamily="18" charset="0"/>
                <a:cs typeface="Times New Roman" panose="02020603050405020304" pitchFamily="18" charset="0"/>
              </a:rPr>
              <a:t>Risk Metrics</a:t>
            </a:r>
          </a:p>
          <a:p>
            <a:pPr marL="0" lvl="0" indent="0" algn="just" eaLnBrk="0" fontAlgn="base" hangingPunct="0">
              <a:lnSpc>
                <a:spcPct val="15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Disruption Rate</a:t>
            </a:r>
          </a:p>
          <a:p>
            <a:pPr marL="0" lvl="0" indent="0" algn="just" eaLnBrk="0" fontAlgn="base" hangingPunct="0">
              <a:lnSpc>
                <a:spcPct val="15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Average Disruption Rate</a:t>
            </a:r>
          </a:p>
          <a:p>
            <a:pPr marL="0" lvl="0" indent="0" algn="just" eaLnBrk="0" fontAlgn="base" hangingPunct="0">
              <a:lnSpc>
                <a:spcPct val="15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Total Disrupted Shipments</a:t>
            </a:r>
          </a:p>
          <a:p>
            <a:pPr marL="0" lvl="0" indent="0" algn="just" eaLnBrk="0" fontAlgn="base" hangingPunct="0">
              <a:lnSpc>
                <a:spcPct val="15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Average Geopolitical Risk Score</a:t>
            </a:r>
          </a:p>
          <a:p>
            <a:pPr marL="0" lvl="0" indent="0" eaLnBrk="0" fontAlgn="base" hangingPunct="0">
              <a:lnSpc>
                <a:spcPct val="15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Highest Risk Product Category </a:t>
            </a:r>
          </a:p>
          <a:p>
            <a:pPr marL="0" lvl="0" indent="0" eaLnBrk="0" fontAlgn="base" hangingPunct="0">
              <a:lnSpc>
                <a:spcPct val="15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Weather Condition with Highest   Disruption</a:t>
            </a:r>
          </a:p>
          <a:p>
            <a:pPr marL="0" lvl="0" indent="0" eaLnBrk="0" fontAlgn="base" hangingPunct="0">
              <a:lnSpc>
                <a:spcPct val="150000"/>
              </a:lnSpc>
              <a:spcBef>
                <a:spcPct val="0"/>
              </a:spcBef>
              <a:spcAft>
                <a:spcPct val="0"/>
              </a:spcAft>
              <a:buFontTx/>
              <a:buChar char="•"/>
            </a:pPr>
            <a:r>
              <a:rPr lang="en-US" altLang="en-US" sz="2600" dirty="0">
                <a:solidFill>
                  <a:schemeClr val="bg1"/>
                </a:solidFill>
                <a:latin typeface="Times New Roman" panose="02020603050405020304" pitchFamily="18" charset="0"/>
                <a:cs typeface="Times New Roman" panose="02020603050405020304" pitchFamily="18" charset="0"/>
              </a:rPr>
              <a:t> Product Category with Highest Disruption</a:t>
            </a:r>
          </a:p>
          <a:p>
            <a:pPr marL="0" lvl="0" indent="0" algn="just" eaLnBrk="0" fontAlgn="base" hangingPunct="0">
              <a:lnSpc>
                <a:spcPct val="150000"/>
              </a:lnSpc>
              <a:spcBef>
                <a:spcPct val="0"/>
              </a:spcBef>
              <a:spcAft>
                <a:spcPct val="0"/>
              </a:spcAft>
              <a:buFontTx/>
              <a:buChar char="•"/>
            </a:pPr>
            <a:endParaRPr lang="en-US" altLang="en-US" sz="2600" dirty="0">
              <a:solidFill>
                <a:schemeClr val="bg1"/>
              </a:solidFill>
              <a:latin typeface="Times New Roman" panose="02020603050405020304" pitchFamily="18" charset="0"/>
              <a:cs typeface="Times New Roman" panose="02020603050405020304" pitchFamily="18" charset="0"/>
            </a:endParaRPr>
          </a:p>
          <a:p>
            <a:pPr marL="0" indent="0" algn="ctr">
              <a:buNone/>
            </a:pPr>
            <a:endParaRPr lang="en-IN" dirty="0">
              <a:solidFill>
                <a:schemeClr val="bg1"/>
              </a:solidFill>
              <a:latin typeface="Times New Roman" panose="02020603050405020304" pitchFamily="18" charset="0"/>
              <a:cs typeface="Times New Roman" panose="02020603050405020304" pitchFamily="18" charset="0"/>
            </a:endParaRPr>
          </a:p>
          <a:p>
            <a:pPr marL="0" indent="0" algn="ctr">
              <a:buNone/>
            </a:pP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983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05E895-D46E-D575-185A-EB1E428CE259}"/>
              </a:ext>
            </a:extLst>
          </p:cNvPr>
          <p:cNvSpPr>
            <a:spLocks noGrp="1"/>
          </p:cNvSpPr>
          <p:nvPr>
            <p:ph type="title"/>
          </p:nvPr>
        </p:nvSpPr>
        <p:spPr>
          <a:xfrm>
            <a:off x="838200" y="197978"/>
            <a:ext cx="10515600" cy="1040888"/>
          </a:xfrm>
        </p:spPr>
        <p:txBody>
          <a:bodyPr>
            <a:normAutofit/>
          </a:bodyPr>
          <a:lstStyle/>
          <a:p>
            <a:pPr algn="ctr"/>
            <a:r>
              <a:rPr lang="en-IN" sz="3200" dirty="0">
                <a:solidFill>
                  <a:schemeClr val="bg1"/>
                </a:solidFill>
                <a:latin typeface="Times New Roman" panose="02020603050405020304" pitchFamily="18" charset="0"/>
                <a:cs typeface="Times New Roman" panose="02020603050405020304" pitchFamily="18" charset="0"/>
              </a:rPr>
              <a:t>Report Design &amp; Visual Appearance</a:t>
            </a:r>
          </a:p>
        </p:txBody>
      </p:sp>
      <p:pic>
        <p:nvPicPr>
          <p:cNvPr id="8" name="Content Placeholder 7">
            <a:extLst>
              <a:ext uri="{FF2B5EF4-FFF2-40B4-BE49-F238E27FC236}">
                <a16:creationId xmlns:a16="http://schemas.microsoft.com/office/drawing/2014/main" id="{07B0A478-A679-4939-A722-F271C69E36B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34297" y="1582994"/>
            <a:ext cx="5685503" cy="4739148"/>
          </a:xfrm>
          <a:prstGeom prst="rect">
            <a:avLst/>
          </a:prstGeom>
        </p:spPr>
      </p:pic>
      <p:pic>
        <p:nvPicPr>
          <p:cNvPr id="10" name="Content Placeholder 9">
            <a:extLst>
              <a:ext uri="{FF2B5EF4-FFF2-40B4-BE49-F238E27FC236}">
                <a16:creationId xmlns:a16="http://schemas.microsoft.com/office/drawing/2014/main" id="{B5B99E5B-B1F8-C923-4E57-9D11F72CE5F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582994"/>
            <a:ext cx="5685502" cy="4739148"/>
          </a:xfrm>
          <a:prstGeom prst="rect">
            <a:avLst/>
          </a:prstGeom>
        </p:spPr>
      </p:pic>
    </p:spTree>
    <p:extLst>
      <p:ext uri="{BB962C8B-B14F-4D97-AF65-F5344CB8AC3E}">
        <p14:creationId xmlns:p14="http://schemas.microsoft.com/office/powerpoint/2010/main" val="3433745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829DAD9-4834-C642-4B1A-6EAE195157A4}"/>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6212F49-D863-19CB-B97A-795B7266183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12957" y="796413"/>
            <a:ext cx="5606845" cy="4807974"/>
          </a:xfrm>
          <a:prstGeom prst="rect">
            <a:avLst/>
          </a:prstGeom>
        </p:spPr>
      </p:pic>
      <p:pic>
        <p:nvPicPr>
          <p:cNvPr id="12" name="Content Placeholder 11">
            <a:extLst>
              <a:ext uri="{FF2B5EF4-FFF2-40B4-BE49-F238E27FC236}">
                <a16:creationId xmlns:a16="http://schemas.microsoft.com/office/drawing/2014/main" id="{5C3F5211-CCEE-98A6-EE04-A4BF80F9326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796413"/>
            <a:ext cx="5764161" cy="4807974"/>
          </a:xfrm>
          <a:prstGeom prst="rect">
            <a:avLst/>
          </a:prstGeom>
        </p:spPr>
      </p:pic>
    </p:spTree>
    <p:extLst>
      <p:ext uri="{BB962C8B-B14F-4D97-AF65-F5344CB8AC3E}">
        <p14:creationId xmlns:p14="http://schemas.microsoft.com/office/powerpoint/2010/main" val="2647390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4E2F8FC2-C01E-0F3D-6F52-0984C670EC4F}"/>
              </a:ext>
            </a:extLst>
          </p:cNvPr>
          <p:cNvSpPr>
            <a:spLocks noGrp="1" noChangeArrowheads="1"/>
          </p:cNvSpPr>
          <p:nvPr>
            <p:ph type="title"/>
          </p:nvPr>
        </p:nvSpPr>
        <p:spPr bwMode="auto">
          <a:xfrm>
            <a:off x="936523" y="913626"/>
            <a:ext cx="10134600"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Designed a clean and professional dashboard layout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Used consistent color themes and formatting across all pages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Selected appropriate chart types for each type of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Included KPI cards for quick performance monitoring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Applied clear titles and labels to improve readability </a:t>
            </a:r>
          </a:p>
        </p:txBody>
      </p:sp>
    </p:spTree>
    <p:extLst>
      <p:ext uri="{BB962C8B-B14F-4D97-AF65-F5344CB8AC3E}">
        <p14:creationId xmlns:p14="http://schemas.microsoft.com/office/powerpoint/2010/main" val="3158584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1558-86E2-72EF-8424-80F37C13E805}"/>
              </a:ext>
            </a:extLst>
          </p:cNvPr>
          <p:cNvSpPr>
            <a:spLocks noGrp="1"/>
          </p:cNvSpPr>
          <p:nvPr>
            <p:ph type="title"/>
          </p:nvPr>
        </p:nvSpPr>
        <p:spPr>
          <a:xfrm>
            <a:off x="523568" y="345460"/>
            <a:ext cx="10515600" cy="893405"/>
          </a:xfrm>
        </p:spPr>
        <p:txBody>
          <a:bodyPr>
            <a:normAutofit fontScale="90000"/>
          </a:bodyPr>
          <a:lstStyle/>
          <a:p>
            <a:pPr algn="ctr"/>
            <a:r>
              <a:rPr lang="en-US" sz="3600" b="1" dirty="0">
                <a:solidFill>
                  <a:schemeClr val="bg1"/>
                </a:solidFill>
                <a:latin typeface="Times New Roman" panose="02020603050405020304" pitchFamily="18" charset="0"/>
                <a:cs typeface="Times New Roman" panose="02020603050405020304" pitchFamily="18" charset="0"/>
              </a:rPr>
              <a:t>Power BI Features Used</a:t>
            </a:r>
            <a:br>
              <a:rPr lang="en-US" b="1" dirty="0"/>
            </a:br>
            <a:endParaRPr lang="en-IN" dirty="0"/>
          </a:p>
        </p:txBody>
      </p:sp>
      <p:sp>
        <p:nvSpPr>
          <p:cNvPr id="3" name="Content Placeholder 2">
            <a:extLst>
              <a:ext uri="{FF2B5EF4-FFF2-40B4-BE49-F238E27FC236}">
                <a16:creationId xmlns:a16="http://schemas.microsoft.com/office/drawing/2014/main" id="{E9EA33D1-4760-E5F0-A8AC-17B7F7074D90}"/>
              </a:ext>
            </a:extLst>
          </p:cNvPr>
          <p:cNvSpPr>
            <a:spLocks noGrp="1"/>
          </p:cNvSpPr>
          <p:nvPr>
            <p:ph idx="1"/>
          </p:nvPr>
        </p:nvSpPr>
        <p:spPr>
          <a:xfrm>
            <a:off x="838200" y="904568"/>
            <a:ext cx="10515600" cy="5250708"/>
          </a:xfrm>
        </p:spPr>
        <p:txBody>
          <a:bodyPr>
            <a:normAutofit/>
          </a:bodyPr>
          <a:lstStyle/>
          <a:p>
            <a:pPr>
              <a:lnSpc>
                <a:spcPct val="150000"/>
              </a:lnSpc>
            </a:pPr>
            <a:r>
              <a:rPr lang="en-US" sz="2400" dirty="0">
                <a:solidFill>
                  <a:schemeClr val="bg1"/>
                </a:solidFill>
                <a:latin typeface="Times New Roman" panose="02020603050405020304" pitchFamily="18" charset="0"/>
                <a:cs typeface="Times New Roman" panose="02020603050405020304" pitchFamily="18" charset="0"/>
              </a:rPr>
              <a:t>Slicers implemented across report pages, including Shipment Start (Origin Port), Shipment End (Destination Port), Transport Mode, Date Hierarchy (Year, Quarter, Month, Day), and Year.</a:t>
            </a:r>
          </a:p>
          <a:p>
            <a:pPr>
              <a:lnSpc>
                <a:spcPct val="150000"/>
              </a:lnSpc>
            </a:pPr>
            <a:r>
              <a:rPr lang="en-US" sz="2400" dirty="0">
                <a:solidFill>
                  <a:schemeClr val="bg1"/>
                </a:solidFill>
                <a:latin typeface="Times New Roman" panose="02020603050405020304" pitchFamily="18" charset="0"/>
                <a:cs typeface="Times New Roman" panose="02020603050405020304" pitchFamily="18" charset="0"/>
              </a:rPr>
              <a:t>Interactive filters for dynamic data exploration.</a:t>
            </a:r>
          </a:p>
          <a:p>
            <a:pPr>
              <a:lnSpc>
                <a:spcPct val="150000"/>
              </a:lnSpc>
            </a:pPr>
            <a:r>
              <a:rPr lang="en-US" sz="2400" dirty="0">
                <a:solidFill>
                  <a:schemeClr val="bg1"/>
                </a:solidFill>
                <a:latin typeface="Times New Roman" panose="02020603050405020304" pitchFamily="18" charset="0"/>
                <a:cs typeface="Times New Roman" panose="02020603050405020304" pitchFamily="18" charset="0"/>
              </a:rPr>
              <a:t>Drill-down functionality for detailed analysis.</a:t>
            </a:r>
          </a:p>
          <a:p>
            <a:pPr>
              <a:lnSpc>
                <a:spcPct val="150000"/>
              </a:lnSpc>
            </a:pPr>
            <a:r>
              <a:rPr lang="en-US" sz="2400" dirty="0">
                <a:solidFill>
                  <a:schemeClr val="bg1"/>
                </a:solidFill>
                <a:latin typeface="Times New Roman" panose="02020603050405020304" pitchFamily="18" charset="0"/>
                <a:cs typeface="Times New Roman" panose="02020603050405020304" pitchFamily="18" charset="0"/>
              </a:rPr>
              <a:t>Tooltips to display additional information.</a:t>
            </a:r>
          </a:p>
          <a:p>
            <a:pPr>
              <a:lnSpc>
                <a:spcPct val="150000"/>
              </a:lnSpc>
            </a:pPr>
            <a:r>
              <a:rPr lang="en-US" sz="2400" dirty="0">
                <a:solidFill>
                  <a:schemeClr val="bg1"/>
                </a:solidFill>
                <a:latin typeface="Times New Roman" panose="02020603050405020304" pitchFamily="18" charset="0"/>
                <a:cs typeface="Times New Roman" panose="02020603050405020304" pitchFamily="18" charset="0"/>
              </a:rPr>
              <a:t>Cross-filtering between visuals.</a:t>
            </a:r>
          </a:p>
          <a:p>
            <a:pPr>
              <a:lnSpc>
                <a:spcPct val="150000"/>
              </a:lnSpc>
            </a:pPr>
            <a:r>
              <a:rPr lang="en-US" sz="2400" dirty="0">
                <a:solidFill>
                  <a:schemeClr val="bg1"/>
                </a:solidFill>
                <a:latin typeface="Times New Roman" panose="02020603050405020304" pitchFamily="18" charset="0"/>
                <a:cs typeface="Times New Roman" panose="02020603050405020304" pitchFamily="18" charset="0"/>
              </a:rPr>
              <a:t>Page Navigator for easy navigation between dashboard pages.</a:t>
            </a:r>
          </a:p>
          <a:p>
            <a:pPr marL="0" indent="0">
              <a:buNone/>
            </a:pPr>
            <a:endParaRPr lang="en-IN" dirty="0"/>
          </a:p>
        </p:txBody>
      </p:sp>
    </p:spTree>
    <p:extLst>
      <p:ext uri="{BB962C8B-B14F-4D97-AF65-F5344CB8AC3E}">
        <p14:creationId xmlns:p14="http://schemas.microsoft.com/office/powerpoint/2010/main" val="755194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CCA06-7B16-5D38-D7EC-448BB37B18F7}"/>
              </a:ext>
            </a:extLst>
          </p:cNvPr>
          <p:cNvSpPr>
            <a:spLocks noGrp="1"/>
          </p:cNvSpPr>
          <p:nvPr>
            <p:ph type="title"/>
          </p:nvPr>
        </p:nvSpPr>
        <p:spPr>
          <a:xfrm>
            <a:off x="926691" y="129152"/>
            <a:ext cx="10515600" cy="814746"/>
          </a:xfrm>
        </p:spPr>
        <p:txBody>
          <a:bodyPr>
            <a:normAutofit fontScale="90000"/>
          </a:bodyPr>
          <a:lstStyle/>
          <a:p>
            <a:pPr algn="ctr"/>
            <a:br>
              <a:rPr lang="en-IN" sz="3600" b="1" dirty="0">
                <a:solidFill>
                  <a:schemeClr val="bg1"/>
                </a:solidFill>
                <a:latin typeface="Times New Roman" panose="02020603050405020304" pitchFamily="18" charset="0"/>
                <a:cs typeface="Times New Roman" panose="02020603050405020304" pitchFamily="18" charset="0"/>
              </a:rPr>
            </a:br>
            <a:r>
              <a:rPr lang="en-IN" sz="3600" b="1" dirty="0">
                <a:solidFill>
                  <a:schemeClr val="bg1"/>
                </a:solidFill>
                <a:latin typeface="Times New Roman" panose="02020603050405020304" pitchFamily="18" charset="0"/>
                <a:cs typeface="Times New Roman" panose="02020603050405020304" pitchFamily="18" charset="0"/>
              </a:rPr>
              <a:t>Key Analysis and Insights</a:t>
            </a:r>
            <a:br>
              <a:rPr lang="en-IN" dirty="0"/>
            </a:br>
            <a:endParaRPr lang="en-IN" dirty="0"/>
          </a:p>
        </p:txBody>
      </p:sp>
      <p:sp>
        <p:nvSpPr>
          <p:cNvPr id="3" name="Content Placeholder 2">
            <a:extLst>
              <a:ext uri="{FF2B5EF4-FFF2-40B4-BE49-F238E27FC236}">
                <a16:creationId xmlns:a16="http://schemas.microsoft.com/office/drawing/2014/main" id="{E067E42C-9C47-8792-A358-52DB32AEFF14}"/>
              </a:ext>
            </a:extLst>
          </p:cNvPr>
          <p:cNvSpPr>
            <a:spLocks noGrp="1"/>
          </p:cNvSpPr>
          <p:nvPr>
            <p:ph idx="1"/>
          </p:nvPr>
        </p:nvSpPr>
        <p:spPr>
          <a:xfrm>
            <a:off x="838200" y="776748"/>
            <a:ext cx="10515600" cy="5742039"/>
          </a:xfrm>
        </p:spPr>
        <p:txBody>
          <a:bodyPr>
            <a:normAutofit/>
          </a:bodyPr>
          <a:lstStyle/>
          <a:p>
            <a:pPr marL="0" indent="0">
              <a:lnSpc>
                <a:spcPct val="100000"/>
              </a:lnSpc>
              <a:buNone/>
            </a:pPr>
            <a:r>
              <a:rPr lang="en-US" b="1" dirty="0">
                <a:solidFill>
                  <a:schemeClr val="bg1"/>
                </a:solidFill>
                <a:latin typeface="Times New Roman" panose="02020603050405020304" pitchFamily="18" charset="0"/>
                <a:cs typeface="Times New Roman" panose="02020603050405020304" pitchFamily="18" charset="0"/>
              </a:rPr>
              <a:t>Shipment Patterns</a:t>
            </a:r>
            <a:endParaRPr lang="en-US" dirty="0">
              <a:solidFill>
                <a:schemeClr val="bg1"/>
              </a:solidFill>
              <a:latin typeface="Times New Roman" panose="02020603050405020304" pitchFamily="18" charset="0"/>
              <a:cs typeface="Times New Roman" panose="02020603050405020304" pitchFamily="18" charset="0"/>
            </a:endParaRPr>
          </a:p>
          <a:p>
            <a:pPr>
              <a:lnSpc>
                <a:spcPct val="100000"/>
              </a:lnSpc>
            </a:pPr>
            <a:r>
              <a:rPr lang="en-US" sz="2400" dirty="0">
                <a:solidFill>
                  <a:schemeClr val="bg1"/>
                </a:solidFill>
                <a:latin typeface="Times New Roman" panose="02020603050405020304" pitchFamily="18" charset="0"/>
                <a:cs typeface="Times New Roman" panose="02020603050405020304" pitchFamily="18" charset="0"/>
              </a:rPr>
              <a:t>The highest number of shipments occurred during fog weather conditions (20.7%), followed by storms.</a:t>
            </a:r>
          </a:p>
          <a:p>
            <a:pPr>
              <a:lnSpc>
                <a:spcPct val="100000"/>
              </a:lnSpc>
            </a:pPr>
            <a:r>
              <a:rPr lang="en-US" sz="2400" dirty="0">
                <a:solidFill>
                  <a:schemeClr val="bg1"/>
                </a:solidFill>
                <a:latin typeface="Times New Roman" panose="02020603050405020304" pitchFamily="18" charset="0"/>
                <a:cs typeface="Times New Roman" panose="02020603050405020304" pitchFamily="18" charset="0"/>
              </a:rPr>
              <a:t>Air transport mode handled the highest shipment volume (1,320 shipments), followed by sea transport.</a:t>
            </a:r>
          </a:p>
          <a:p>
            <a:pPr>
              <a:lnSpc>
                <a:spcPct val="100000"/>
              </a:lnSpc>
            </a:pPr>
            <a:r>
              <a:rPr lang="en-US" sz="2400" dirty="0">
                <a:solidFill>
                  <a:schemeClr val="bg1"/>
                </a:solidFill>
                <a:latin typeface="Times New Roman" panose="02020603050405020304" pitchFamily="18" charset="0"/>
                <a:cs typeface="Times New Roman" panose="02020603050405020304" pitchFamily="18" charset="0"/>
              </a:rPr>
              <a:t>Electronics was the most shipped product category, followed by textiles.</a:t>
            </a:r>
          </a:p>
          <a:p>
            <a:pPr marL="0" indent="0">
              <a:lnSpc>
                <a:spcPct val="100000"/>
              </a:lnSpc>
              <a:buNone/>
            </a:pPr>
            <a:r>
              <a:rPr lang="en-US" b="1" dirty="0">
                <a:solidFill>
                  <a:schemeClr val="bg1"/>
                </a:solidFill>
                <a:latin typeface="Times New Roman" panose="02020603050405020304" pitchFamily="18" charset="0"/>
                <a:cs typeface="Times New Roman" panose="02020603050405020304" pitchFamily="18" charset="0"/>
              </a:rPr>
              <a:t>Product Performance</a:t>
            </a:r>
            <a:endParaRPr lang="en-US" dirty="0">
              <a:solidFill>
                <a:schemeClr val="bg1"/>
              </a:solidFill>
              <a:latin typeface="Times New Roman" panose="02020603050405020304" pitchFamily="18" charset="0"/>
              <a:cs typeface="Times New Roman" panose="02020603050405020304" pitchFamily="18" charset="0"/>
            </a:endParaRPr>
          </a:p>
          <a:p>
            <a:pPr>
              <a:lnSpc>
                <a:spcPct val="100000"/>
              </a:lnSpc>
            </a:pPr>
            <a:r>
              <a:rPr lang="en-US" sz="2400" dirty="0">
                <a:solidFill>
                  <a:schemeClr val="bg1"/>
                </a:solidFill>
                <a:latin typeface="Times New Roman" panose="02020603050405020304" pitchFamily="18" charset="0"/>
                <a:cs typeface="Times New Roman" panose="02020603050405020304" pitchFamily="18" charset="0"/>
              </a:rPr>
              <a:t>Textiles recorded the highest disruption rate (64.85%), followed by automotive products.</a:t>
            </a:r>
          </a:p>
          <a:p>
            <a:pPr>
              <a:lnSpc>
                <a:spcPct val="100000"/>
              </a:lnSpc>
            </a:pPr>
            <a:r>
              <a:rPr lang="en-US" sz="2400" dirty="0">
                <a:solidFill>
                  <a:schemeClr val="bg1"/>
                </a:solidFill>
                <a:latin typeface="Times New Roman" panose="02020603050405020304" pitchFamily="18" charset="0"/>
                <a:cs typeface="Times New Roman" panose="02020603050405020304" pitchFamily="18" charset="0"/>
              </a:rPr>
              <a:t>Perishables, textiles, and pharmaceuticals showed the highest average lead times.</a:t>
            </a:r>
          </a:p>
          <a:p>
            <a:endParaRPr lang="en-IN" sz="2400" dirty="0"/>
          </a:p>
        </p:txBody>
      </p:sp>
    </p:spTree>
    <p:extLst>
      <p:ext uri="{BB962C8B-B14F-4D97-AF65-F5344CB8AC3E}">
        <p14:creationId xmlns:p14="http://schemas.microsoft.com/office/powerpoint/2010/main" val="615226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5D8068A-6882-6720-7598-0475F2EB8A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CF247-E50B-B5D2-C331-78BBB93AFA14}"/>
              </a:ext>
            </a:extLst>
          </p:cNvPr>
          <p:cNvSpPr>
            <a:spLocks noGrp="1"/>
          </p:cNvSpPr>
          <p:nvPr>
            <p:ph idx="1"/>
          </p:nvPr>
        </p:nvSpPr>
        <p:spPr>
          <a:xfrm>
            <a:off x="838200" y="462116"/>
            <a:ext cx="10515600" cy="5742039"/>
          </a:xfrm>
        </p:spPr>
        <p:txBody>
          <a:bodyPr>
            <a:normAutofit/>
          </a:bodyPr>
          <a:lstStyle/>
          <a:p>
            <a:pPr marL="0" indent="0">
              <a:lnSpc>
                <a:spcPct val="100000"/>
              </a:lnSpc>
              <a:buNone/>
            </a:pPr>
            <a:r>
              <a:rPr lang="en-IN" b="1" dirty="0">
                <a:solidFill>
                  <a:schemeClr val="bg1"/>
                </a:solidFill>
                <a:latin typeface="Times New Roman" panose="02020603050405020304" pitchFamily="18" charset="0"/>
                <a:cs typeface="Times New Roman" panose="02020603050405020304" pitchFamily="18" charset="0"/>
              </a:rPr>
              <a:t>Location Performance</a:t>
            </a:r>
            <a:endParaRPr lang="en-US" b="1" dirty="0">
              <a:solidFill>
                <a:schemeClr val="bg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Busan was the busiest origin port (667 shipments), followed closely by Rotterdam.</a:t>
            </a:r>
          </a:p>
          <a:p>
            <a:pPr marL="0" lvl="0" indent="0" eaLnBrk="0" fontAlgn="base" hangingPunct="0">
              <a:lnSpc>
                <a:spcPct val="10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Shanghai and Rotterdam recorded the highest average lead time among origin ports (21 days).</a:t>
            </a:r>
          </a:p>
          <a:p>
            <a:pPr marL="0" lvl="0" indent="0" eaLnBrk="0" fontAlgn="base" hangingPunct="0">
              <a:lnSpc>
                <a:spcPct val="10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Busan, Singapore, and Marseille showed the highest average lead time among destination ports (21 days). </a:t>
            </a:r>
          </a:p>
          <a:p>
            <a:pPr marL="0" indent="0">
              <a:lnSpc>
                <a:spcPct val="100000"/>
              </a:lnSpc>
              <a:buNone/>
            </a:pPr>
            <a:r>
              <a:rPr lang="en-IN" b="1" dirty="0">
                <a:solidFill>
                  <a:schemeClr val="bg1"/>
                </a:solidFill>
                <a:latin typeface="Times New Roman" panose="02020603050405020304" pitchFamily="18" charset="0"/>
                <a:cs typeface="Times New Roman" panose="02020603050405020304" pitchFamily="18" charset="0"/>
              </a:rPr>
              <a:t>Risk and Disruption Analysis</a:t>
            </a:r>
          </a:p>
          <a:p>
            <a:pPr>
              <a:lnSpc>
                <a:spcPct val="100000"/>
              </a:lnSpc>
            </a:pPr>
            <a:r>
              <a:rPr lang="en-US" sz="2400" dirty="0">
                <a:solidFill>
                  <a:schemeClr val="bg1"/>
                </a:solidFill>
                <a:latin typeface="Times New Roman" panose="02020603050405020304" pitchFamily="18" charset="0"/>
                <a:cs typeface="Times New Roman" panose="02020603050405020304" pitchFamily="18" charset="0"/>
              </a:rPr>
              <a:t>Hurricane conditions resulted in the highest disruption rate.</a:t>
            </a:r>
          </a:p>
          <a:p>
            <a:pPr>
              <a:lnSpc>
                <a:spcPct val="100000"/>
              </a:lnSpc>
            </a:pPr>
            <a:r>
              <a:rPr lang="en-US" altLang="en-US" sz="2400" dirty="0">
                <a:solidFill>
                  <a:schemeClr val="bg1"/>
                </a:solidFill>
                <a:latin typeface="Times New Roman" panose="02020603050405020304" pitchFamily="18" charset="0"/>
                <a:cs typeface="Times New Roman" panose="02020603050405020304" pitchFamily="18" charset="0"/>
              </a:rPr>
              <a:t>Air transport mode showed the highest disruption rate.</a:t>
            </a:r>
          </a:p>
          <a:p>
            <a:pPr>
              <a:lnSpc>
                <a:spcPct val="100000"/>
              </a:lnSpc>
            </a:pPr>
            <a:r>
              <a:rPr lang="en-US" sz="2400" dirty="0">
                <a:solidFill>
                  <a:schemeClr val="bg1"/>
                </a:solidFill>
                <a:latin typeface="Times New Roman" panose="02020603050405020304" pitchFamily="18" charset="0"/>
                <a:cs typeface="Times New Roman" panose="02020603050405020304" pitchFamily="18" charset="0"/>
              </a:rPr>
              <a:t>A total of 3,063 shipments were disrupted.</a:t>
            </a:r>
          </a:p>
          <a:p>
            <a:pPr>
              <a:lnSpc>
                <a:spcPct val="100000"/>
              </a:lnSpc>
            </a:pPr>
            <a:r>
              <a:rPr lang="en-US" sz="2400" dirty="0">
                <a:solidFill>
                  <a:schemeClr val="bg1"/>
                </a:solidFill>
                <a:latin typeface="Times New Roman" panose="02020603050405020304" pitchFamily="18" charset="0"/>
                <a:cs typeface="Times New Roman" panose="02020603050405020304" pitchFamily="18" charset="0"/>
              </a:rPr>
              <a:t>Geopolitical risk scores were analyzed on a quarter-wise basis, with peak values observed in February, April, July, November and December.</a:t>
            </a:r>
            <a:endParaRPr lang="en-US" altLang="en-US" sz="2400" dirty="0">
              <a:solidFill>
                <a:schemeClr val="bg1"/>
              </a:solidFill>
              <a:latin typeface="Times New Roman" panose="02020603050405020304" pitchFamily="18" charset="0"/>
              <a:cs typeface="Times New Roman" panose="02020603050405020304" pitchFamily="18" charset="0"/>
            </a:endParaRPr>
          </a:p>
          <a:p>
            <a:pPr>
              <a:lnSpc>
                <a:spcPct val="100000"/>
              </a:lnSpc>
            </a:pPr>
            <a:endParaRPr lang="en-US" sz="2400" dirty="0">
              <a:solidFill>
                <a:schemeClr val="bg1"/>
              </a:solidFill>
              <a:latin typeface="Times New Roman" panose="02020603050405020304" pitchFamily="18" charset="0"/>
              <a:cs typeface="Times New Roman" panose="02020603050405020304" pitchFamily="18" charset="0"/>
            </a:endParaRPr>
          </a:p>
          <a:p>
            <a:pPr>
              <a:lnSpc>
                <a:spcPct val="100000"/>
              </a:lnSpc>
            </a:pPr>
            <a:endParaRPr lang="en-US" altLang="en-US" sz="2400" dirty="0">
              <a:solidFill>
                <a:schemeClr val="bg1"/>
              </a:solidFill>
              <a:latin typeface="Times New Roman" panose="02020603050405020304" pitchFamily="18" charset="0"/>
              <a:cs typeface="Times New Roman" panose="02020603050405020304" pitchFamily="18" charset="0"/>
            </a:endParaRPr>
          </a:p>
          <a:p>
            <a:pPr>
              <a:lnSpc>
                <a:spcPct val="100000"/>
              </a:lnSpc>
            </a:pPr>
            <a:endParaRPr lang="en-US" sz="2400" dirty="0">
              <a:solidFill>
                <a:schemeClr val="bg1"/>
              </a:solidFill>
              <a:latin typeface="Times New Roman" panose="02020603050405020304" pitchFamily="18" charset="0"/>
              <a:cs typeface="Times New Roman" panose="02020603050405020304" pitchFamily="18" charset="0"/>
            </a:endParaRPr>
          </a:p>
          <a:p>
            <a:pPr>
              <a:lnSpc>
                <a:spcPct val="100000"/>
              </a:lnSpc>
            </a:pP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0A20B2BC-3EDC-2598-34F0-F67E2A638629}"/>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8105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7B205-1FE5-42DD-0E74-0B71C2914446}"/>
              </a:ext>
            </a:extLst>
          </p:cNvPr>
          <p:cNvSpPr>
            <a:spLocks noGrp="1"/>
          </p:cNvSpPr>
          <p:nvPr>
            <p:ph type="title"/>
          </p:nvPr>
        </p:nvSpPr>
        <p:spPr/>
        <p:txBody>
          <a:bodyPr/>
          <a:lstStyle/>
          <a:p>
            <a:pPr algn="ctr"/>
            <a:r>
              <a:rPr lang="en-US" sz="3200" b="1" dirty="0">
                <a:solidFill>
                  <a:schemeClr val="bg1"/>
                </a:solidFill>
                <a:latin typeface="Times New Roman" panose="02020603050405020304" pitchFamily="18" charset="0"/>
                <a:cs typeface="Times New Roman" panose="02020603050405020304" pitchFamily="18" charset="0"/>
              </a:rPr>
              <a:t>Storytelling, Business Impact, and Conclusion</a:t>
            </a:r>
            <a:br>
              <a:rPr lang="en-US" dirty="0"/>
            </a:br>
            <a:endParaRPr lang="en-IN" dirty="0"/>
          </a:p>
        </p:txBody>
      </p:sp>
      <p:sp>
        <p:nvSpPr>
          <p:cNvPr id="3" name="Content Placeholder 2">
            <a:extLst>
              <a:ext uri="{FF2B5EF4-FFF2-40B4-BE49-F238E27FC236}">
                <a16:creationId xmlns:a16="http://schemas.microsoft.com/office/drawing/2014/main" id="{72029CB9-AD2D-7380-32E3-4E266296C22E}"/>
              </a:ext>
            </a:extLst>
          </p:cNvPr>
          <p:cNvSpPr>
            <a:spLocks noGrp="1"/>
          </p:cNvSpPr>
          <p:nvPr>
            <p:ph idx="1"/>
          </p:nvPr>
        </p:nvSpPr>
        <p:spPr>
          <a:xfrm>
            <a:off x="838200" y="1189703"/>
            <a:ext cx="10515600" cy="4987260"/>
          </a:xfrm>
        </p:spPr>
        <p:txBody>
          <a:bodyPr/>
          <a:lstStyle/>
          <a:p>
            <a:pPr marL="0" indent="0">
              <a:buNone/>
            </a:pPr>
            <a:r>
              <a:rPr lang="en-IN" b="1" dirty="0">
                <a:solidFill>
                  <a:schemeClr val="bg1"/>
                </a:solidFill>
                <a:latin typeface="Times New Roman" panose="02020603050405020304" pitchFamily="18" charset="0"/>
                <a:cs typeface="Times New Roman" panose="02020603050405020304" pitchFamily="18" charset="0"/>
              </a:rPr>
              <a:t>Storytelling</a:t>
            </a:r>
          </a:p>
          <a:p>
            <a:pPr marL="0" indent="0">
              <a:lnSpc>
                <a:spcPct val="100000"/>
              </a:lnSpc>
              <a:buNone/>
            </a:pPr>
            <a:r>
              <a:rPr lang="en-US" sz="2400" dirty="0">
                <a:solidFill>
                  <a:schemeClr val="bg1"/>
                </a:solidFill>
                <a:latin typeface="Times New Roman" panose="02020603050405020304" pitchFamily="18" charset="0"/>
                <a:cs typeface="Times New Roman" panose="02020603050405020304" pitchFamily="18" charset="0"/>
              </a:rPr>
              <a:t>This project analyzed global shipment operations to identify patterns, operational efficiency, and risk factors affecting supply chain performance.</a:t>
            </a:r>
          </a:p>
          <a:p>
            <a:pPr marL="0" indent="0">
              <a:lnSpc>
                <a:spcPct val="100000"/>
              </a:lnSpc>
              <a:buNone/>
            </a:pPr>
            <a:r>
              <a:rPr lang="en-US" sz="2400" dirty="0">
                <a:solidFill>
                  <a:schemeClr val="bg1"/>
                </a:solidFill>
                <a:latin typeface="Times New Roman" panose="02020603050405020304" pitchFamily="18" charset="0"/>
                <a:cs typeface="Times New Roman" panose="02020603050405020304" pitchFamily="18" charset="0"/>
              </a:rPr>
              <a:t>The dashboard enables monitoring of shipment trends, disruptions, and delivery performance across products, locations, and transportation modes.</a:t>
            </a:r>
          </a:p>
          <a:p>
            <a:pPr marL="0" indent="0">
              <a:lnSpc>
                <a:spcPct val="100000"/>
              </a:lnSpc>
              <a:buNone/>
            </a:pPr>
            <a:endParaRPr lang="en-US" sz="2400" dirty="0">
              <a:solidFill>
                <a:schemeClr val="bg1"/>
              </a:solidFill>
              <a:latin typeface="Times New Roman" panose="02020603050405020304" pitchFamily="18" charset="0"/>
              <a:cs typeface="Times New Roman" panose="02020603050405020304" pitchFamily="18" charset="0"/>
            </a:endParaRPr>
          </a:p>
          <a:p>
            <a:pPr marL="0" indent="0">
              <a:buNone/>
            </a:pPr>
            <a:r>
              <a:rPr lang="en-IN" b="1" dirty="0">
                <a:solidFill>
                  <a:schemeClr val="bg1"/>
                </a:solidFill>
                <a:latin typeface="Times New Roman" panose="02020603050405020304" pitchFamily="18" charset="0"/>
                <a:cs typeface="Times New Roman" panose="02020603050405020304" pitchFamily="18" charset="0"/>
              </a:rPr>
              <a:t>Business Impact</a:t>
            </a:r>
          </a:p>
          <a:p>
            <a:pPr marL="0" lvl="0" indent="0" eaLnBrk="0" fontAlgn="base" hangingPunct="0">
              <a:lnSpc>
                <a:spcPct val="10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Identify high-risk weather conditions and reduce disruptions</a:t>
            </a:r>
          </a:p>
          <a:p>
            <a:pPr marL="0" lvl="0" indent="0" eaLnBrk="0" fontAlgn="base" hangingPunct="0">
              <a:lnSpc>
                <a:spcPct val="10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Improve transportation planning and delivery schedules</a:t>
            </a:r>
          </a:p>
          <a:p>
            <a:pPr marL="0" lvl="0" indent="0" eaLnBrk="0" fontAlgn="base" hangingPunct="0">
              <a:lnSpc>
                <a:spcPct val="10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Monitor shipment performance using real-time metrics</a:t>
            </a:r>
          </a:p>
          <a:p>
            <a:pPr marL="0" lvl="0" indent="0" eaLnBrk="0" fontAlgn="base" hangingPunct="0">
              <a:lnSpc>
                <a:spcPct val="100000"/>
              </a:lnSpc>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Support data-driven decision-making </a:t>
            </a:r>
          </a:p>
          <a:p>
            <a:pPr marL="0" indent="0">
              <a:buNone/>
            </a:pPr>
            <a:endParaRPr lang="en-IN" b="1" dirty="0">
              <a:solidFill>
                <a:schemeClr val="bg1"/>
              </a:solidFill>
              <a:latin typeface="Times New Roman" panose="02020603050405020304" pitchFamily="18" charset="0"/>
              <a:cs typeface="Times New Roman" panose="02020603050405020304" pitchFamily="18" charset="0"/>
            </a:endParaRPr>
          </a:p>
          <a:p>
            <a:pPr marL="0" indent="0">
              <a:buNone/>
            </a:pPr>
            <a:endParaRPr lang="en-IN" sz="2400" b="1" dirty="0">
              <a:solidFill>
                <a:schemeClr val="bg1"/>
              </a:solidFill>
              <a:latin typeface="Times New Roman" panose="02020603050405020304" pitchFamily="18" charset="0"/>
              <a:cs typeface="Times New Roman" panose="02020603050405020304" pitchFamily="18" charset="0"/>
            </a:endParaRPr>
          </a:p>
          <a:p>
            <a:pPr marL="0" indent="0">
              <a:buNone/>
            </a:pPr>
            <a:endParaRPr lang="en-IN" b="1" dirty="0">
              <a:solidFill>
                <a:schemeClr val="bg1"/>
              </a:solidFill>
              <a:latin typeface="Times New Roman" panose="02020603050405020304" pitchFamily="18" charset="0"/>
              <a:cs typeface="Times New Roman" panose="02020603050405020304" pitchFamily="18" charset="0"/>
            </a:endParaRPr>
          </a:p>
          <a:p>
            <a:pPr marL="0" indent="0">
              <a:buNone/>
            </a:pP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89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84C8E-078F-48BE-08DA-30A62F0CDF39}"/>
              </a:ext>
            </a:extLst>
          </p:cNvPr>
          <p:cNvSpPr>
            <a:spLocks noGrp="1"/>
          </p:cNvSpPr>
          <p:nvPr>
            <p:ph type="title"/>
          </p:nvPr>
        </p:nvSpPr>
        <p:spPr>
          <a:xfrm>
            <a:off x="376084" y="896067"/>
            <a:ext cx="10515600" cy="1325563"/>
          </a:xfrm>
        </p:spPr>
        <p:txBody>
          <a:bodyPr/>
          <a:lstStyle/>
          <a:p>
            <a:pPr algn="ctr"/>
            <a:r>
              <a:rPr lang="en-IN" sz="3200" b="1" dirty="0">
                <a:solidFill>
                  <a:schemeClr val="bg1"/>
                </a:solidFill>
                <a:latin typeface="Times New Roman" panose="02020603050405020304" pitchFamily="18" charset="0"/>
                <a:cs typeface="Times New Roman" panose="02020603050405020304" pitchFamily="18" charset="0"/>
              </a:rPr>
              <a:t>Conclusion</a:t>
            </a:r>
            <a:br>
              <a:rPr lang="en-IN" dirty="0"/>
            </a:br>
            <a:endParaRPr lang="en-IN" dirty="0"/>
          </a:p>
        </p:txBody>
      </p:sp>
      <p:sp>
        <p:nvSpPr>
          <p:cNvPr id="3" name="Content Placeholder 2">
            <a:extLst>
              <a:ext uri="{FF2B5EF4-FFF2-40B4-BE49-F238E27FC236}">
                <a16:creationId xmlns:a16="http://schemas.microsoft.com/office/drawing/2014/main" id="{80F3072E-1959-6600-72E6-B724B5C589E8}"/>
              </a:ext>
            </a:extLst>
          </p:cNvPr>
          <p:cNvSpPr>
            <a:spLocks noGrp="1"/>
          </p:cNvSpPr>
          <p:nvPr>
            <p:ph idx="1"/>
          </p:nvPr>
        </p:nvSpPr>
        <p:spPr/>
        <p:txBody>
          <a:bodyPr>
            <a:normAutofit/>
          </a:bodyPr>
          <a:lstStyle/>
          <a:p>
            <a:pPr marL="0" indent="0" algn="just">
              <a:lnSpc>
                <a:spcPct val="150000"/>
              </a:lnSpc>
              <a:buNone/>
            </a:pPr>
            <a:r>
              <a:rPr lang="en-US" sz="2400" dirty="0">
                <a:solidFill>
                  <a:schemeClr val="bg1"/>
                </a:solidFill>
                <a:latin typeface="Times New Roman" panose="02020603050405020304" pitchFamily="18" charset="0"/>
                <a:cs typeface="Times New Roman" panose="02020603050405020304" pitchFamily="18" charset="0"/>
              </a:rPr>
              <a:t>The Global Supply Chain &amp; Risk Analysis dashboard demonstrates how data visualization and analytics can improve operational visibility, risk management, and supply chain efficiency.</a:t>
            </a: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0312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DE538-200E-0407-4E0D-91EF790A2660}"/>
              </a:ext>
            </a:extLst>
          </p:cNvPr>
          <p:cNvSpPr>
            <a:spLocks noGrp="1"/>
          </p:cNvSpPr>
          <p:nvPr>
            <p:ph type="title"/>
          </p:nvPr>
        </p:nvSpPr>
        <p:spPr>
          <a:xfrm>
            <a:off x="769374" y="2380738"/>
            <a:ext cx="10515600" cy="1325563"/>
          </a:xfrm>
        </p:spPr>
        <p:txBody>
          <a:bodyPr>
            <a:normAutofit/>
          </a:bodyPr>
          <a:lstStyle/>
          <a:p>
            <a:pPr algn="ctr"/>
            <a:r>
              <a:rPr lang="en-IN" sz="4000" dirty="0">
                <a:solidFill>
                  <a:schemeClr val="bg1"/>
                </a:solidFill>
                <a:latin typeface="Times New Roman" panose="02020603050405020304" pitchFamily="18" charset="0"/>
                <a:cs typeface="Times New Roman" panose="02020603050405020304" pitchFamily="18" charset="0"/>
              </a:rPr>
              <a:t>Thank You All</a:t>
            </a:r>
          </a:p>
        </p:txBody>
      </p:sp>
    </p:spTree>
    <p:extLst>
      <p:ext uri="{BB962C8B-B14F-4D97-AF65-F5344CB8AC3E}">
        <p14:creationId xmlns:p14="http://schemas.microsoft.com/office/powerpoint/2010/main" val="4186790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TotalTime>
  <Words>875</Words>
  <Application>Microsoft Office PowerPoint</Application>
  <PresentationFormat>Widescreen</PresentationFormat>
  <Paragraphs>115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PowerPoint Presentation</vt:lpstr>
      <vt:lpstr>Project Introduction &amp; Objective</vt:lpstr>
      <vt:lpstr>Dataset Source &amp; Overview</vt:lpstr>
      <vt:lpstr>Important Columns &amp; Data Types</vt:lpstr>
      <vt:lpstr>Data Cleaning &amp; Transformation </vt:lpstr>
      <vt:lpstr>Data Modeling</vt:lpstr>
      <vt:lpstr>DAX Measures &amp; Calculations</vt:lpstr>
      <vt:lpstr>PowerPoint Presentation</vt:lpstr>
      <vt:lpstr>Report Design &amp; Visual Appearance</vt:lpstr>
      <vt:lpstr>PowerPoint Presentation</vt:lpstr>
      <vt:lpstr> Designed a clean and professional dashboard layout  Used consistent color themes and formatting across all pages  Selected appropriate chart types for each type of analysis  Included KPI cards for quick performance monitoring  Applied clear titles and labels to improve readability </vt:lpstr>
      <vt:lpstr>Power BI Features Used </vt:lpstr>
      <vt:lpstr> Key Analysis and Insights </vt:lpstr>
      <vt:lpstr>PowerPoint Presentation</vt:lpstr>
      <vt:lpstr>Storytelling, Business Impact, and Conclusion </vt:lpstr>
      <vt:lpstr>Conclusion </vt:lpstr>
      <vt:lpstr>Thank You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ANGEL FRANCIS</dc:creator>
  <cp:lastModifiedBy>ANGEL FRANCIS</cp:lastModifiedBy>
  <cp:revision>14</cp:revision>
  <dcterms:created xsi:type="dcterms:W3CDTF">2026-04-20T12:53:28Z</dcterms:created>
  <dcterms:modified xsi:type="dcterms:W3CDTF">2026-05-01T13:07:14Z</dcterms:modified>
</cp:coreProperties>
</file>